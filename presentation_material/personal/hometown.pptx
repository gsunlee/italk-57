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3" autoAdjust="0"/>
    <p:restoredTop sz="85759" autoAdjust="0"/>
  </p:normalViewPr>
  <p:slideViewPr>
    <p:cSldViewPr snapToGrid="0">
      <p:cViewPr varScale="1">
        <p:scale>
          <a:sx n="68" d="100"/>
          <a:sy n="68" d="100"/>
        </p:scale>
        <p:origin x="25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C5332A-9EAC-4615-9A32-7772E2B630C9}" type="datetimeFigureOut">
              <a:rPr lang="en-US" smtClean="0"/>
              <a:t>8/14/2024</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B572AC-684D-4A32-8CF6-3D04EDB07F2D}" type="slidenum">
              <a:rPr lang="en-US" smtClean="0"/>
              <a:t>‹#›</a:t>
            </a:fld>
            <a:endParaRPr lang="en-US"/>
          </a:p>
        </p:txBody>
      </p:sp>
    </p:spTree>
    <p:extLst>
      <p:ext uri="{BB962C8B-B14F-4D97-AF65-F5344CB8AC3E}">
        <p14:creationId xmlns:p14="http://schemas.microsoft.com/office/powerpoint/2010/main" val="2041141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f1a8aa1229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f1a8aa1229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"Good [morning/afternoon], everyone. Thank you for being here today. My name is [Your Name], and I’m excited to take you on a journey through my childhood in my hometown. This presentation will explore the places, people, and experiences that shaped my early years and how they have influenced who I am today."</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f1a8aa122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f1a8aa122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b="1" dirty="0">
                <a:solidFill>
                  <a:schemeClr val="dk1"/>
                </a:solidFill>
              </a:rPr>
              <a:t>Slide 2: Introduction to My Hometown</a:t>
            </a:r>
            <a:r>
              <a:rPr lang="en" dirty="0">
                <a:solidFill>
                  <a:schemeClr val="dk1"/>
                </a:solidFill>
              </a:rPr>
              <a:t> "I grew up in Springfield, a small city located in Europe. It's a place that holds a special place in my heart, not just because it’s where I was born and raised, but because of the deep connection I have with its people, its culture, and its landscapes.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f1a8aa1229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f1a8aa122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Some of my earliest memories are of the park next to my house. Growing up, my days were filled with simple joys—playing in the park, riding on the Carousel, and spending time with family in our cozy home. These places were the backdrop to my childhood adventures, and they remain vivid in my memory to this day.</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f1a8aa1229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f1a8aa1229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"My school days were some of the most formative years of my life. I attended </a:t>
            </a:r>
            <a:r>
              <a:rPr lang="en" b="1" dirty="0">
                <a:solidFill>
                  <a:schemeClr val="dk1"/>
                </a:solidFill>
              </a:rPr>
              <a:t>Lincoln Primary School</a:t>
            </a:r>
            <a:r>
              <a:rPr lang="en" dirty="0">
                <a:solidFill>
                  <a:schemeClr val="dk1"/>
                </a:solidFill>
              </a:rPr>
              <a:t>, where I made lifelong friends and discovered my love for </a:t>
            </a:r>
            <a:r>
              <a:rPr lang="en" b="1" dirty="0">
                <a:solidFill>
                  <a:schemeClr val="dk1"/>
                </a:solidFill>
              </a:rPr>
              <a:t>science, particularly chemistry</a:t>
            </a:r>
            <a:r>
              <a:rPr lang="en" dirty="0">
                <a:solidFill>
                  <a:schemeClr val="dk1"/>
                </a:solidFill>
              </a:rPr>
              <a:t>. I can still remember the excitement of </a:t>
            </a:r>
            <a:r>
              <a:rPr lang="en" b="1" dirty="0">
                <a:solidFill>
                  <a:schemeClr val="dk1"/>
                </a:solidFill>
              </a:rPr>
              <a:t>our annual science fair</a:t>
            </a:r>
            <a:r>
              <a:rPr lang="en" dirty="0">
                <a:solidFill>
                  <a:schemeClr val="dk1"/>
                </a:solidFill>
              </a:rPr>
              <a:t>, where I built a volcano model that actually erupted, and how much fun we had during </a:t>
            </a:r>
            <a:r>
              <a:rPr lang="en" b="1" dirty="0">
                <a:solidFill>
                  <a:schemeClr val="dk1"/>
                </a:solidFill>
              </a:rPr>
              <a:t>homecoming week and the school’s theater productions</a:t>
            </a:r>
            <a:r>
              <a:rPr lang="en" dirty="0">
                <a:solidFill>
                  <a:schemeClr val="dk1"/>
                </a:solidFill>
              </a:rPr>
              <a:t>. My friends and I would </a:t>
            </a:r>
            <a:r>
              <a:rPr lang="en" b="1" dirty="0">
                <a:solidFill>
                  <a:schemeClr val="dk1"/>
                </a:solidFill>
              </a:rPr>
              <a:t>spend hours after school working on projects together and hanging out at the local diner</a:t>
            </a:r>
            <a:r>
              <a:rPr lang="en" dirty="0">
                <a:solidFill>
                  <a:schemeClr val="dk1"/>
                </a:solidFill>
              </a:rPr>
              <a:t>, and those bonds have lasted long after we graduated."</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f1a8aa1229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f1a8aa122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One of the things I cherish most about my childhood is the local festivals and traditions that were an integral part of our community. Every year, we would celebrate </a:t>
            </a:r>
            <a:r>
              <a:rPr lang="en" b="1" dirty="0">
                <a:solidFill>
                  <a:schemeClr val="dk1"/>
                </a:solidFill>
              </a:rPr>
              <a:t>the Harvest Festival</a:t>
            </a:r>
            <a:r>
              <a:rPr lang="en" dirty="0">
                <a:solidFill>
                  <a:schemeClr val="dk1"/>
                </a:solidFill>
              </a:rPr>
              <a:t> with great enthusiasm. My family would </a:t>
            </a:r>
            <a:r>
              <a:rPr lang="en" b="1" dirty="0">
                <a:solidFill>
                  <a:schemeClr val="dk1"/>
                </a:solidFill>
              </a:rPr>
              <a:t>spend the day baking pies, decorating our home with autumn leaves, and participating in the community parade</a:t>
            </a:r>
            <a:r>
              <a:rPr lang="en" dirty="0">
                <a:solidFill>
                  <a:schemeClr val="dk1"/>
                </a:solidFill>
              </a:rPr>
              <a:t>, and it was during these times that I felt a deep connection to my cultural roots. These events were more than just celebrations; they were opportunities to come together and create lasting memories.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f1a8aa1229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f1a8aa1229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One of the most defining aspects of my hometown is its strong sense of community. The people here share core values such as hospitality, resilience, and a deep sense of togetherness. These values are more than just words; they are lived every day, shaping the way we interact, support one another, and face challenges together. Growing up in this environment, I have absorbed these values, which have profoundly influenced my personal development and continue to guide me in all aspects of my life.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f1a8aa1229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f1a8aa122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As I reflect on my journey, I realize how deeply my hometown has shaped who I am today. The values of community, resilience, and connection that I learned through my experiences there continue to guide me. Looking ahead, I aspire to carry forward these lessons, no matter where life takes me. My hometown will always be a part of me, and its influence will forever be a source of strength and inspiration as I pursue my future endeavors.</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DCC48DD-66FA-6E67-09A6-E970052C9DC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AF123AC0-D91F-639D-96B3-8191D8B39F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47C0BC1E-C092-0ED4-3695-E47E467F3510}"/>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91E136B9-085E-1DBA-9BCD-31AEC8C0401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24334290-C6D8-3093-F1C4-3C1A2DEDB9C2}"/>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805696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E469DB-4016-E75E-3B13-C4A4F8E3D6AE}"/>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5DAB81-D5FB-B0B2-AEE2-194439768AF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1178E14E-D982-313E-433A-4497E64F6300}"/>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2B254735-A5C5-700B-F27A-0A5D5E45D718}"/>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857DE24C-EBBB-C54C-53EE-FDE6455D1AEF}"/>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533872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C23415-9F0A-F889-177B-CCF346B4CE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081B6094-B493-3775-B995-2DC4742317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5BB9960E-857C-6BDE-2FFD-59675B096D90}"/>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713D9D4A-DA9E-B4A4-268E-CC9323E9CC6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1F531E-385E-B73B-8353-576D5ED9250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085211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785DA2-16D5-70B2-5EF9-E5981AD06A2C}"/>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FDBEA4F2-2369-5CCE-98DE-D09DA7AB97F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F8E6168C-3165-7ACF-C2F0-455A63C6D4E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58BAFE44-2091-3E31-85C4-C1CBECC52E3D}"/>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6" name="바닥글 개체 틀 5">
            <a:extLst>
              <a:ext uri="{FF2B5EF4-FFF2-40B4-BE49-F238E27FC236}">
                <a16:creationId xmlns:a16="http://schemas.microsoft.com/office/drawing/2014/main" id="{94C1BDDA-58B5-A5FD-AC74-B7C9BB47C616}"/>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5EED3802-8B7C-6DB8-4659-90DFEBA6F3E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64830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9C1291-1004-B954-E487-0DC86930EA25}"/>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565F59CF-3CF2-4763-7022-70A71FCF57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8E551238-862D-7D61-06CF-F5E5B11D9ABA}"/>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2E6D1C4A-80A9-DDA8-02A0-94971AA45D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D8D5598D-B7E7-47E4-4BB0-3E398B71785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0BF66360-F7C9-0C8D-AD04-E608A33C4909}"/>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8" name="바닥글 개체 틀 7">
            <a:extLst>
              <a:ext uri="{FF2B5EF4-FFF2-40B4-BE49-F238E27FC236}">
                <a16:creationId xmlns:a16="http://schemas.microsoft.com/office/drawing/2014/main" id="{47CF3F2F-32D5-A037-5CE9-19905D9D2B9E}"/>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E964732-36CD-7AF9-C6ED-C109D90B0F5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391035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9C36C0-3FA1-8E99-3130-4AD067B9EE40}"/>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88D9B3D6-13FF-A4EC-6AF2-0D1C06F8D4E6}"/>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4" name="바닥글 개체 틀 3">
            <a:extLst>
              <a:ext uri="{FF2B5EF4-FFF2-40B4-BE49-F238E27FC236}">
                <a16:creationId xmlns:a16="http://schemas.microsoft.com/office/drawing/2014/main" id="{F49BC2A6-492D-0E83-DE6E-3DB2AFA59A8E}"/>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8ACF886-88A6-6A42-143C-8D74BA199CDC}"/>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69354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6F3A543-BB51-EAA3-A570-59CB719EDD69}"/>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3" name="바닥글 개체 틀 2">
            <a:extLst>
              <a:ext uri="{FF2B5EF4-FFF2-40B4-BE49-F238E27FC236}">
                <a16:creationId xmlns:a16="http://schemas.microsoft.com/office/drawing/2014/main" id="{2E7E2FAA-066B-105F-2B91-1B7668EEFB5A}"/>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8E9FDC65-3156-A6EC-4FAD-05FD91DFD82E}"/>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783109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4794FF-A558-53E4-62F0-9083B9E988A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DBCEF149-CC0C-78A5-1CC0-7AE2F19CAA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72624ECE-2CF1-2EB8-BF24-3982C2AC2B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A24256D-2A2A-4027-92BC-C58501E5F334}"/>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6" name="바닥글 개체 틀 5">
            <a:extLst>
              <a:ext uri="{FF2B5EF4-FFF2-40B4-BE49-F238E27FC236}">
                <a16:creationId xmlns:a16="http://schemas.microsoft.com/office/drawing/2014/main" id="{2492BE70-C28F-3A03-8610-9C8A5D64E1E0}"/>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169F653C-56E9-3466-FC2F-328620D9DD22}"/>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05569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AB3A0F-7496-2414-CCCB-8265A05EAF9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2985D5AD-D32E-D4CD-2FF2-D6CFD8FB2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0BC868C5-1B39-5D60-8482-53FD991AB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6BD0AA1-6A57-57FC-C7FF-4CA8D040873D}"/>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6" name="바닥글 개체 틀 5">
            <a:extLst>
              <a:ext uri="{FF2B5EF4-FFF2-40B4-BE49-F238E27FC236}">
                <a16:creationId xmlns:a16="http://schemas.microsoft.com/office/drawing/2014/main" id="{AF1C9AF0-41B1-08AA-CDB1-E8E14C7CAB13}"/>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65F80A7D-74B4-5143-94E9-34BEA425B489}"/>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1367882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2B4149-9747-7109-693A-4F5EB839214D}"/>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09671EA0-9D18-EB31-5BF9-BDB49476740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D2CD0855-3DF7-B9B0-D9D8-DAAD1FD68E99}"/>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B6F2966C-77A2-6FE3-6A1A-145DC18D2595}"/>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6ADDF416-90D6-6B5F-752E-50291A995E42}"/>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2651900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9B6129D-BDDD-2D46-B40B-985E745DF02A}"/>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163E25E9-EAE5-445F-6898-CB5DD80FD988}"/>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217E4971-7E2E-DB5F-ABBB-1CDD1394071E}"/>
              </a:ext>
            </a:extLst>
          </p:cNvPr>
          <p:cNvSpPr>
            <a:spLocks noGrp="1"/>
          </p:cNvSpPr>
          <p:nvPr>
            <p:ph type="dt" sz="half" idx="10"/>
          </p:nvPr>
        </p:nvSpPr>
        <p:spPr/>
        <p:txBody>
          <a:body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45FA1530-504B-FBE6-E47F-B8574BE5FE49}"/>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7942793F-A277-BE98-BE11-8A3432CCDE4B}"/>
              </a:ext>
            </a:extLst>
          </p:cNvPr>
          <p:cNvSpPr>
            <a:spLocks noGrp="1"/>
          </p:cNvSpPr>
          <p:nvPr>
            <p:ph type="sldNum" sz="quarter" idx="12"/>
          </p:nvPr>
        </p:nvSpPr>
        <p:spPr/>
        <p:txBody>
          <a:bodyPr/>
          <a:lstStyle/>
          <a:p>
            <a:fld id="{852B813C-2FFE-45A9-8168-69A9108CA0FD}" type="slidenum">
              <a:rPr lang="en-US" smtClean="0"/>
              <a:t>‹#›</a:t>
            </a:fld>
            <a:endParaRPr lang="en-US"/>
          </a:p>
        </p:txBody>
      </p:sp>
    </p:spTree>
    <p:extLst>
      <p:ext uri="{BB962C8B-B14F-4D97-AF65-F5344CB8AC3E}">
        <p14:creationId xmlns:p14="http://schemas.microsoft.com/office/powerpoint/2010/main" val="1180025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8572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D1160EE-4844-2223-0C70-EC6A17498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E30D3AFE-0192-15E5-F9C0-4A649FAE40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751C99FC-62A9-12C7-2594-C8D6105A2C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129712-476B-4734-BDCC-1E99EACF807B}" type="datetimeFigureOut">
              <a:rPr lang="en-US" smtClean="0"/>
              <a:t>8/14/2024</a:t>
            </a:fld>
            <a:endParaRPr lang="en-US"/>
          </a:p>
        </p:txBody>
      </p:sp>
      <p:sp>
        <p:nvSpPr>
          <p:cNvPr id="5" name="바닥글 개체 틀 4">
            <a:extLst>
              <a:ext uri="{FF2B5EF4-FFF2-40B4-BE49-F238E27FC236}">
                <a16:creationId xmlns:a16="http://schemas.microsoft.com/office/drawing/2014/main" id="{0283717F-9CE1-0D5F-567F-CB4289492B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슬라이드 번호 개체 틀 5">
            <a:extLst>
              <a:ext uri="{FF2B5EF4-FFF2-40B4-BE49-F238E27FC236}">
                <a16:creationId xmlns:a16="http://schemas.microsoft.com/office/drawing/2014/main" id="{1663496C-5B85-9497-F015-E3F4D6FE02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2B813C-2FFE-45A9-8168-69A9108CA0FD}" type="slidenum">
              <a:rPr lang="en-US" smtClean="0"/>
              <a:t>‹#›</a:t>
            </a:fld>
            <a:endParaRPr lang="en-US"/>
          </a:p>
        </p:txBody>
      </p:sp>
    </p:spTree>
    <p:extLst>
      <p:ext uri="{BB962C8B-B14F-4D97-AF65-F5344CB8AC3E}">
        <p14:creationId xmlns:p14="http://schemas.microsoft.com/office/powerpoint/2010/main" val="211467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4098" name="Picture 2" descr="brown concrete building">
            <a:extLst>
              <a:ext uri="{FF2B5EF4-FFF2-40B4-BE49-F238E27FC236}">
                <a16:creationId xmlns:a16="http://schemas.microsoft.com/office/drawing/2014/main" id="{02FB3BF4-F9F5-7549-0B38-339D8B74E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47669"/>
            <a:ext cx="12192000" cy="8105670"/>
          </a:xfrm>
          <a:prstGeom prst="rect">
            <a:avLst/>
          </a:prstGeom>
          <a:noFill/>
          <a:extLst>
            <a:ext uri="{909E8E84-426E-40DD-AFC4-6F175D3DCCD1}">
              <a14:hiddenFill xmlns:a14="http://schemas.microsoft.com/office/drawing/2010/main">
                <a:solidFill>
                  <a:srgbClr val="FFFFFF"/>
                </a:solidFill>
              </a14:hiddenFill>
            </a:ext>
          </a:extLst>
        </p:spPr>
      </p:pic>
      <p:sp>
        <p:nvSpPr>
          <p:cNvPr id="61" name="Google Shape;61;p14"/>
          <p:cNvSpPr txBox="1">
            <a:spLocks noGrp="1"/>
          </p:cNvSpPr>
          <p:nvPr>
            <p:ph type="ctrTitle"/>
          </p:nvPr>
        </p:nvSpPr>
        <p:spPr>
          <a:xfrm>
            <a:off x="1572200" y="575193"/>
            <a:ext cx="9047600" cy="1747600"/>
          </a:xfrm>
          <a:prstGeom prst="rect">
            <a:avLst/>
          </a:prstGeom>
          <a:solidFill>
            <a:schemeClr val="lt1"/>
          </a:solidFill>
        </p:spPr>
        <p:txBody>
          <a:bodyPr spcFirstLastPara="1" vert="horz" wrap="square" lIns="121900" tIns="121900" rIns="121900" bIns="121900" rtlCol="0" anchor="b" anchorCtr="0">
            <a:noAutofit/>
          </a:bodyPr>
          <a:lstStyle/>
          <a:p>
            <a:pPr>
              <a:spcBef>
                <a:spcPts val="0"/>
              </a:spcBef>
              <a:buSzPts val="990"/>
            </a:pPr>
            <a:r>
              <a:rPr lang="en" sz="5040" dirty="0"/>
              <a:t>Childhood in My Hometown: </a:t>
            </a:r>
            <a:br>
              <a:rPr lang="en" sz="5040" dirty="0"/>
            </a:br>
            <a:r>
              <a:rPr lang="en" sz="5040" dirty="0"/>
              <a:t>A Journey Through Memories</a:t>
            </a:r>
            <a:endParaRPr sz="50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3" name="그림 2" descr="야외, 구름, 하늘, 물이(가) 표시된 사진&#10;&#10;자동 생성된 설명">
            <a:extLst>
              <a:ext uri="{FF2B5EF4-FFF2-40B4-BE49-F238E27FC236}">
                <a16:creationId xmlns:a16="http://schemas.microsoft.com/office/drawing/2014/main" id="{F5CE6AEE-CE59-02BB-3C17-03A8CE221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730" y="-96899"/>
            <a:ext cx="13680240" cy="7708289"/>
          </a:xfrm>
          <a:prstGeom prst="rect">
            <a:avLst/>
          </a:prstGeom>
        </p:spPr>
      </p:pic>
      <p:sp>
        <p:nvSpPr>
          <p:cNvPr id="67" name="Google Shape;67;p15"/>
          <p:cNvSpPr txBox="1">
            <a:spLocks noGrp="1"/>
          </p:cNvSpPr>
          <p:nvPr>
            <p:ph type="title"/>
          </p:nvPr>
        </p:nvSpPr>
        <p:spPr>
          <a:xfrm>
            <a:off x="415600" y="593367"/>
            <a:ext cx="11360800" cy="763600"/>
          </a:xfrm>
          <a:prstGeom prst="rect">
            <a:avLst/>
          </a:prstGeom>
          <a:solidFill>
            <a:schemeClr val="lt1"/>
          </a:solidFill>
        </p:spPr>
        <p:txBody>
          <a:bodyPr spcFirstLastPara="1" vert="horz" wrap="square" lIns="121900" tIns="121900" rIns="121900" bIns="121900" rtlCol="0" anchor="t" anchorCtr="0">
            <a:normAutofit fontScale="90000"/>
          </a:bodyPr>
          <a:lstStyle/>
          <a:p>
            <a:r>
              <a:rPr lang="en"/>
              <a:t>Introduction to My Hometown</a:t>
            </a:r>
            <a:endParaRPr/>
          </a:p>
        </p:txBody>
      </p:sp>
      <p:sp>
        <p:nvSpPr>
          <p:cNvPr id="68" name="Google Shape;68;p15"/>
          <p:cNvSpPr txBox="1">
            <a:spLocks noGrp="1"/>
          </p:cNvSpPr>
          <p:nvPr>
            <p:ph type="body" idx="1"/>
          </p:nvPr>
        </p:nvSpPr>
        <p:spPr>
          <a:xfrm>
            <a:off x="-7181333" y="1563351"/>
            <a:ext cx="4068800" cy="4555200"/>
          </a:xfrm>
          <a:prstGeom prst="rect">
            <a:avLst/>
          </a:prstGeom>
        </p:spPr>
        <p:txBody>
          <a:bodyPr spcFirstLastPara="1" vert="horz" wrap="square" lIns="121900" tIns="121900" rIns="121900" bIns="121900" rtlCol="0" anchor="t" anchorCtr="0">
            <a:normAutofit/>
          </a:bodyPr>
          <a:lstStyle/>
          <a:p>
            <a:pPr>
              <a:buChar char="-"/>
            </a:pPr>
            <a:r>
              <a:rPr lang="en"/>
              <a:t>Brief description of your hometown (location, size, key features)</a:t>
            </a:r>
            <a:endParaRPr/>
          </a:p>
          <a:p>
            <a:pPr>
              <a:buChar char="-"/>
            </a:pPr>
            <a:r>
              <a:rPr lang="en"/>
              <a:t>The significance of your hometown in your life</a:t>
            </a:r>
            <a:endParaRPr/>
          </a:p>
          <a:p>
            <a:pPr>
              <a:buChar char="-"/>
            </a:pPr>
            <a:r>
              <a:rPr lang="en"/>
              <a:t>A personal connection to the place</a:t>
            </a:r>
            <a:endParaRPr/>
          </a:p>
          <a:p>
            <a:pPr marL="0" indent="0">
              <a:spcBef>
                <a:spcPts val="1600"/>
              </a:spcBef>
              <a:buClr>
                <a:schemeClr val="dk1"/>
              </a:buClr>
              <a:buSzPts val="1100"/>
              <a:buNone/>
            </a:pPr>
            <a:endParaRPr/>
          </a:p>
          <a:p>
            <a:pPr marL="0" indent="0">
              <a:spcBef>
                <a:spcPts val="1600"/>
              </a:spcBef>
              <a:spcAft>
                <a:spcPts val="16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Early Childhood Memories</a:t>
            </a:r>
            <a:endParaRPr/>
          </a:p>
        </p:txBody>
      </p:sp>
      <p:sp>
        <p:nvSpPr>
          <p:cNvPr id="74" name="Google Shape;74;p16"/>
          <p:cNvSpPr txBox="1">
            <a:spLocks noGrp="1"/>
          </p:cNvSpPr>
          <p:nvPr>
            <p:ph type="body" idx="1"/>
          </p:nvPr>
        </p:nvSpPr>
        <p:spPr>
          <a:xfrm>
            <a:off x="415600" y="1536633"/>
            <a:ext cx="5250094"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sz="2400" dirty="0"/>
              <a:t>Fond memories of the park next to my house.</a:t>
            </a:r>
            <a:endParaRPr sz="2400" dirty="0"/>
          </a:p>
          <a:p>
            <a:pPr>
              <a:lnSpc>
                <a:spcPct val="100000"/>
              </a:lnSpc>
              <a:buFont typeface="Arial" panose="020B0604020202020204" pitchFamily="34" charset="0"/>
              <a:buChar char="•"/>
            </a:pPr>
            <a:r>
              <a:rPr lang="en" sz="2400" dirty="0"/>
              <a:t>Childhood joys:</a:t>
            </a:r>
            <a:endParaRPr sz="2400" dirty="0"/>
          </a:p>
          <a:p>
            <a:pPr lvl="1">
              <a:lnSpc>
                <a:spcPct val="100000"/>
              </a:lnSpc>
              <a:buFont typeface="Arial" panose="020B0604020202020204" pitchFamily="34" charset="0"/>
              <a:buChar char="•"/>
            </a:pPr>
            <a:r>
              <a:rPr lang="en" sz="2000" dirty="0"/>
              <a:t>Playing in the park</a:t>
            </a:r>
            <a:endParaRPr sz="2000" dirty="0"/>
          </a:p>
          <a:p>
            <a:pPr lvl="1">
              <a:lnSpc>
                <a:spcPct val="100000"/>
              </a:lnSpc>
              <a:buFont typeface="Arial" panose="020B0604020202020204" pitchFamily="34" charset="0"/>
              <a:buChar char="•"/>
            </a:pPr>
            <a:r>
              <a:rPr lang="en" sz="2000" dirty="0"/>
              <a:t>Riding the Carousel</a:t>
            </a:r>
            <a:endParaRPr sz="2000" dirty="0"/>
          </a:p>
          <a:p>
            <a:pPr lvl="1">
              <a:lnSpc>
                <a:spcPct val="100000"/>
              </a:lnSpc>
              <a:buFont typeface="Arial" panose="020B0604020202020204" pitchFamily="34" charset="0"/>
              <a:buChar char="•"/>
            </a:pPr>
            <a:r>
              <a:rPr lang="en" sz="2000" dirty="0"/>
              <a:t>Spending time with family</a:t>
            </a:r>
            <a:endParaRPr sz="2000" dirty="0"/>
          </a:p>
          <a:p>
            <a:pPr>
              <a:lnSpc>
                <a:spcPct val="100000"/>
              </a:lnSpc>
              <a:buFont typeface="Arial" panose="020B0604020202020204" pitchFamily="34" charset="0"/>
              <a:buChar char="•"/>
            </a:pPr>
            <a:r>
              <a:rPr lang="en" sz="2400" dirty="0"/>
              <a:t>These places were central to my early adventures and remain vivid in my memory.</a:t>
            </a:r>
            <a:endParaRPr sz="2400" dirty="0"/>
          </a:p>
        </p:txBody>
      </p:sp>
      <p:pic>
        <p:nvPicPr>
          <p:cNvPr id="1030" name="Picture 6">
            <a:extLst>
              <a:ext uri="{FF2B5EF4-FFF2-40B4-BE49-F238E27FC236}">
                <a16:creationId xmlns:a16="http://schemas.microsoft.com/office/drawing/2014/main" id="{EEF8B8DB-839F-C74A-D166-3D6851404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423" y="1539028"/>
            <a:ext cx="5561986" cy="41714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2050" name="Picture 2">
            <a:extLst>
              <a:ext uri="{FF2B5EF4-FFF2-40B4-BE49-F238E27FC236}">
                <a16:creationId xmlns:a16="http://schemas.microsoft.com/office/drawing/2014/main" id="{F0051072-F9F8-FC72-F12C-CE21F0FEB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67" y="-1392752"/>
            <a:ext cx="12366467" cy="8250752"/>
          </a:xfrm>
          <a:prstGeom prst="rect">
            <a:avLst/>
          </a:prstGeom>
          <a:noFill/>
          <a:extLst>
            <a:ext uri="{909E8E84-426E-40DD-AFC4-6F175D3DCCD1}">
              <a14:hiddenFill xmlns:a14="http://schemas.microsoft.com/office/drawing/2010/main">
                <a:solidFill>
                  <a:srgbClr val="FFFFFF"/>
                </a:solidFill>
              </a14:hiddenFill>
            </a:ext>
          </a:extLst>
        </p:spPr>
      </p:pic>
      <p:sp>
        <p:nvSpPr>
          <p:cNvPr id="81" name="Google Shape;81;p17"/>
          <p:cNvSpPr txBox="1">
            <a:spLocks noGrp="1"/>
          </p:cNvSpPr>
          <p:nvPr>
            <p:ph type="title"/>
          </p:nvPr>
        </p:nvSpPr>
        <p:spPr>
          <a:xfrm>
            <a:off x="415599" y="593367"/>
            <a:ext cx="6827883" cy="930633"/>
          </a:xfrm>
          <a:prstGeom prst="rect">
            <a:avLst/>
          </a:prstGeom>
          <a:solidFill>
            <a:schemeClr val="lt1"/>
          </a:solidFill>
        </p:spPr>
        <p:txBody>
          <a:bodyPr spcFirstLastPara="1" vert="horz" wrap="square" lIns="121900" tIns="121900" rIns="121900" bIns="121900" rtlCol="0" anchor="t" anchorCtr="0">
            <a:normAutofit/>
          </a:bodyPr>
          <a:lstStyle/>
          <a:p>
            <a:pPr>
              <a:buClr>
                <a:schemeClr val="dk1"/>
              </a:buClr>
              <a:buSzPct val="39285"/>
            </a:pPr>
            <a:r>
              <a:rPr lang="en" dirty="0"/>
              <a:t>School Days and Friends</a:t>
            </a:r>
            <a:endParaRPr dirty="0"/>
          </a:p>
          <a:p>
            <a:pPr>
              <a:buClr>
                <a:schemeClr val="dk1"/>
              </a:buClr>
              <a:buSzPct val="39285"/>
            </a:pPr>
            <a:endParaRPr dirty="0"/>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Festivals and Traditions</a:t>
            </a:r>
            <a:endParaRPr/>
          </a:p>
        </p:txBody>
      </p:sp>
      <p:sp>
        <p:nvSpPr>
          <p:cNvPr id="87" name="Google Shape;87;p18"/>
          <p:cNvSpPr txBox="1">
            <a:spLocks noGrp="1"/>
          </p:cNvSpPr>
          <p:nvPr>
            <p:ph type="body" idx="1"/>
          </p:nvPr>
        </p:nvSpPr>
        <p:spPr>
          <a:xfrm>
            <a:off x="415600" y="1536633"/>
            <a:ext cx="5115624" cy="4848000"/>
          </a:xfrm>
          <a:prstGeom prst="rect">
            <a:avLst/>
          </a:prstGeom>
        </p:spPr>
        <p:txBody>
          <a:bodyPr spcFirstLastPara="1" vert="horz" wrap="square" lIns="121900" tIns="121900" rIns="121900" bIns="121900" rtlCol="0" anchor="t" anchorCtr="0">
            <a:noAutofit/>
          </a:bodyPr>
          <a:lstStyle/>
          <a:p>
            <a:pPr marL="501223" indent="-342900">
              <a:lnSpc>
                <a:spcPct val="100000"/>
              </a:lnSpc>
              <a:buSzPts val="1730"/>
              <a:buFont typeface="Arial" panose="020B0604020202020204" pitchFamily="34" charset="0"/>
              <a:buChar char="•"/>
            </a:pPr>
            <a:r>
              <a:rPr lang="en" sz="2400" dirty="0"/>
              <a:t>Cherished local festivals and traditions.</a:t>
            </a:r>
            <a:endParaRPr sz="2400" dirty="0"/>
          </a:p>
          <a:p>
            <a:pPr marL="501223" indent="-342900">
              <a:lnSpc>
                <a:spcPct val="100000"/>
              </a:lnSpc>
              <a:buSzPts val="1730"/>
              <a:buFont typeface="Arial" panose="020B0604020202020204" pitchFamily="34" charset="0"/>
              <a:buChar char="•"/>
            </a:pPr>
            <a:r>
              <a:rPr lang="en" sz="2400" dirty="0"/>
              <a:t>The annual Harvest Festival</a:t>
            </a:r>
            <a:endParaRPr sz="2400" dirty="0"/>
          </a:p>
          <a:p>
            <a:pPr marL="501223" indent="-342900">
              <a:lnSpc>
                <a:spcPct val="100000"/>
              </a:lnSpc>
              <a:buSzPts val="1730"/>
              <a:buFont typeface="Arial" panose="020B0604020202020204" pitchFamily="34" charset="0"/>
              <a:buChar char="•"/>
            </a:pPr>
            <a:r>
              <a:rPr lang="en" sz="2400" dirty="0"/>
              <a:t>Family activities: </a:t>
            </a:r>
            <a:endParaRPr sz="2400" dirty="0"/>
          </a:p>
          <a:p>
            <a:pPr marL="1139594" lvl="1" indent="-342900">
              <a:lnSpc>
                <a:spcPct val="100000"/>
              </a:lnSpc>
              <a:buSzPts val="1390"/>
              <a:buFont typeface="Arial" panose="020B0604020202020204" pitchFamily="34" charset="0"/>
              <a:buChar char="•"/>
            </a:pPr>
            <a:r>
              <a:rPr lang="en" sz="1800" dirty="0"/>
              <a:t>Baking pies</a:t>
            </a:r>
            <a:endParaRPr sz="1800" dirty="0"/>
          </a:p>
          <a:p>
            <a:pPr marL="1139594" lvl="1" indent="-342900">
              <a:lnSpc>
                <a:spcPct val="100000"/>
              </a:lnSpc>
              <a:buSzPts val="1390"/>
              <a:buFont typeface="Arial" panose="020B0604020202020204" pitchFamily="34" charset="0"/>
              <a:buChar char="•"/>
            </a:pPr>
            <a:r>
              <a:rPr lang="en" sz="1800" dirty="0"/>
              <a:t>Decorating with autumn leaves</a:t>
            </a:r>
            <a:endParaRPr sz="1800" dirty="0"/>
          </a:p>
          <a:p>
            <a:pPr marL="1139594" lvl="1" indent="-342900">
              <a:lnSpc>
                <a:spcPct val="100000"/>
              </a:lnSpc>
              <a:buSzPts val="1390"/>
              <a:buFont typeface="Arial" panose="020B0604020202020204" pitchFamily="34" charset="0"/>
              <a:buChar char="•"/>
            </a:pPr>
            <a:r>
              <a:rPr lang="en" sz="1800" dirty="0"/>
              <a:t>Participating in the parade</a:t>
            </a:r>
            <a:endParaRPr sz="1800" dirty="0"/>
          </a:p>
          <a:p>
            <a:pPr marL="501223" indent="-342900">
              <a:lnSpc>
                <a:spcPct val="100000"/>
              </a:lnSpc>
              <a:buSzPts val="1730"/>
              <a:buFont typeface="Arial" panose="020B0604020202020204" pitchFamily="34" charset="0"/>
              <a:buChar char="•"/>
            </a:pPr>
            <a:r>
              <a:rPr lang="en" sz="2400" dirty="0"/>
              <a:t>These events fostered a deep connection to my cultural roots and created lasting memories.</a:t>
            </a:r>
            <a:endParaRPr sz="2400" dirty="0"/>
          </a:p>
        </p:txBody>
      </p:sp>
      <p:sp>
        <p:nvSpPr>
          <p:cNvPr id="89" name="Google Shape;89;p18"/>
          <p:cNvSpPr txBox="1"/>
          <p:nvPr/>
        </p:nvSpPr>
        <p:spPr>
          <a:xfrm>
            <a:off x="6234533" y="3209667"/>
            <a:ext cx="4000000" cy="1175794"/>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en" sz="1467">
                <a:solidFill>
                  <a:schemeClr val="dk1"/>
                </a:solidFill>
              </a:rPr>
              <a:t> Photos of festivals, family gatherings, traditional attire or activities</a:t>
            </a:r>
            <a:endParaRPr sz="1467">
              <a:solidFill>
                <a:schemeClr val="dk1"/>
              </a:solidFill>
            </a:endParaRPr>
          </a:p>
        </p:txBody>
      </p:sp>
      <p:pic>
        <p:nvPicPr>
          <p:cNvPr id="3074" name="Picture 2">
            <a:extLst>
              <a:ext uri="{FF2B5EF4-FFF2-40B4-BE49-F238E27FC236}">
                <a16:creationId xmlns:a16="http://schemas.microsoft.com/office/drawing/2014/main" id="{1C40CECE-B812-C318-BF90-CB8698536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8500" y="1714275"/>
            <a:ext cx="6057900" cy="34294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Community and Values</a:t>
            </a:r>
            <a:endParaRPr/>
          </a:p>
        </p:txBody>
      </p:sp>
      <p:sp>
        <p:nvSpPr>
          <p:cNvPr id="96" name="Google Shape;96;p19"/>
          <p:cNvSpPr txBox="1">
            <a:spLocks noGrp="1"/>
          </p:cNvSpPr>
          <p:nvPr>
            <p:ph type="body" idx="1"/>
          </p:nvPr>
        </p:nvSpPr>
        <p:spPr>
          <a:xfrm>
            <a:off x="415600" y="1536633"/>
            <a:ext cx="10816800"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sz="2400" dirty="0"/>
              <a:t>Strong sense of community in my hometown.</a:t>
            </a:r>
            <a:endParaRPr sz="2400" dirty="0"/>
          </a:p>
          <a:p>
            <a:pPr>
              <a:lnSpc>
                <a:spcPct val="100000"/>
              </a:lnSpc>
              <a:buFont typeface="Arial" panose="020B0604020202020204" pitchFamily="34" charset="0"/>
              <a:buChar char="•"/>
            </a:pPr>
            <a:r>
              <a:rPr lang="en" sz="2400" dirty="0"/>
              <a:t>Core values: hospitality, resilience, togetherness.</a:t>
            </a:r>
            <a:endParaRPr sz="2400" dirty="0"/>
          </a:p>
          <a:p>
            <a:pPr>
              <a:lnSpc>
                <a:spcPct val="100000"/>
              </a:lnSpc>
              <a:buFont typeface="Arial" panose="020B0604020202020204" pitchFamily="34" charset="0"/>
              <a:buChar char="•"/>
            </a:pPr>
            <a:r>
              <a:rPr lang="en" sz="2400" dirty="0"/>
              <a:t>Influence of these values on the community and personal growth.</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Reflections and Future Aspirations</a:t>
            </a:r>
            <a:endParaRPr/>
          </a:p>
        </p:txBody>
      </p:sp>
      <p:sp>
        <p:nvSpPr>
          <p:cNvPr id="102" name="Google Shape;102;p20"/>
          <p:cNvSpPr txBox="1">
            <a:spLocks noGrp="1"/>
          </p:cNvSpPr>
          <p:nvPr>
            <p:ph type="body" idx="1"/>
          </p:nvPr>
        </p:nvSpPr>
        <p:spPr>
          <a:xfrm>
            <a:off x="415600" y="1536633"/>
            <a:ext cx="10516800"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sz="2400" dirty="0"/>
              <a:t>My hometown's significant role in shaping my identity and values.</a:t>
            </a:r>
            <a:endParaRPr sz="2400" dirty="0"/>
          </a:p>
          <a:p>
            <a:pPr>
              <a:lnSpc>
                <a:spcPct val="100000"/>
              </a:lnSpc>
              <a:buFont typeface="Arial" panose="020B0604020202020204" pitchFamily="34" charset="0"/>
              <a:buChar char="•"/>
            </a:pPr>
            <a:r>
              <a:rPr lang="en" sz="2400" dirty="0"/>
              <a:t>The lessons of community, resilience, and cultural pride that I carry with me.</a:t>
            </a:r>
            <a:endParaRPr sz="2400" dirty="0"/>
          </a:p>
          <a:p>
            <a:pPr>
              <a:lnSpc>
                <a:spcPct val="100000"/>
              </a:lnSpc>
              <a:buFont typeface="Arial" panose="020B0604020202020204" pitchFamily="34" charset="0"/>
              <a:buChar char="•"/>
            </a:pPr>
            <a:r>
              <a:rPr lang="en" sz="2400" dirty="0"/>
              <a:t>How these experiences have influenced my personal and professional goals.</a:t>
            </a:r>
            <a:endParaRPr sz="2400" dirty="0"/>
          </a:p>
          <a:p>
            <a:pPr>
              <a:lnSpc>
                <a:spcPct val="100000"/>
              </a:lnSpc>
              <a:buFont typeface="Arial" panose="020B0604020202020204" pitchFamily="34" charset="0"/>
              <a:buChar char="•"/>
            </a:pPr>
            <a:r>
              <a:rPr lang="en" sz="2400" dirty="0"/>
              <a:t>The ongoing impact of my hometown on my aspirations, serving as a source of strength and inspiration for the future.</a:t>
            </a:r>
            <a:endParaRPr sz="2400"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813</Words>
  <Application>Microsoft Office PowerPoint</Application>
  <PresentationFormat>와이드스크린</PresentationFormat>
  <Paragraphs>38</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Aptos</vt:lpstr>
      <vt:lpstr>Aptos Display</vt:lpstr>
      <vt:lpstr>Arial</vt:lpstr>
      <vt:lpstr>Office 테마</vt:lpstr>
      <vt:lpstr>Childhood in My Hometown:  A Journey Through Memories</vt:lpstr>
      <vt:lpstr>Introduction to My Hometown</vt:lpstr>
      <vt:lpstr>Early Childhood Memories</vt:lpstr>
      <vt:lpstr>School Days and Friends  </vt:lpstr>
      <vt:lpstr>Festivals and Traditions</vt:lpstr>
      <vt:lpstr>Community and Values</vt:lpstr>
      <vt:lpstr>Reflections and Future Aspirations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Geonsun Lee</dc:creator>
  <cp:lastModifiedBy>Geonsun Lee</cp:lastModifiedBy>
  <cp:revision>11</cp:revision>
  <dcterms:created xsi:type="dcterms:W3CDTF">2024-08-14T02:07:58Z</dcterms:created>
  <dcterms:modified xsi:type="dcterms:W3CDTF">2024-08-14T19:26:28Z</dcterms:modified>
</cp:coreProperties>
</file>