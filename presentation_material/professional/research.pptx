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91" r:id="rId2"/>
    <p:sldId id="292" r:id="rId3"/>
    <p:sldId id="293" r:id="rId4"/>
    <p:sldId id="294" r:id="rId5"/>
    <p:sldId id="295" r:id="rId6"/>
    <p:sldId id="296" r:id="rId7"/>
    <p:sldId id="29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47"/>
    <p:restoredTop sz="82913" autoAdjust="0"/>
  </p:normalViewPr>
  <p:slideViewPr>
    <p:cSldViewPr snapToGrid="0">
      <p:cViewPr varScale="1">
        <p:scale>
          <a:sx n="75" d="100"/>
          <a:sy n="75" d="100"/>
        </p:scale>
        <p:origin x="461"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98B57-8CC2-4E47-83C0-577AB82F68E0}" type="datetimeFigureOut">
              <a:rPr lang="en-US" smtClean="0"/>
              <a:t>8/14/2024</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B3948-91F5-4D6A-9449-7C635FDCABD3}" type="slidenum">
              <a:rPr lang="en-US" smtClean="0"/>
              <a:t>‹#›</a:t>
            </a:fld>
            <a:endParaRPr lang="en-US"/>
          </a:p>
        </p:txBody>
      </p:sp>
    </p:spTree>
    <p:extLst>
      <p:ext uri="{BB962C8B-B14F-4D97-AF65-F5344CB8AC3E}">
        <p14:creationId xmlns:p14="http://schemas.microsoft.com/office/powerpoint/2010/main" val="3872180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f1a8aa1229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f1a8aa1229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Good afternoon, everyone. My name is John Doe, and today, I am introducing The DetectWatch. This wearable system is engineered to enhance situational awareness and interaction in high-stress environments, combining innovative features with an intuitive design that prioritizes user needs in critical scenarios.</a:t>
            </a:r>
            <a:endParaRPr dirty="0">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20372f463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20372f463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First let’s talk about our motivation. In environments like healthcare, emergency response, and military operations, maintaining situational awareness is crucial for decision-making and performance. However, current systems often fall short in providing real-time support that adapts to the dynamic and high-stress nature of these settings. This motivated us to explore a solution that seamlessly integrates with the user's workflow, offering enhanced situational awareness without increasing cognitive load.</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20372f463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20372f463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 build upon the existing body of work, we reviewed several notable studies. 'AlertMe' focuses on enhancing medical staff response times through wearable notifications, while 'SituAware' presents a context-aware framework tailored for emergency response systems. 'WristSense' explores real-time monitoring in high-risk environments using wearable devices. While these studies contribute valuable insights, they often suffer from poor integration with existing workflows, excessive cognitive demands, and limited adaptability to rapidly changing contexts. Our work aims to address these challenges.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20372f4631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20372f463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Our proposed solution, DetectWatch, is a wearable device designed as a smartwatch equipped with a context-aware notification system. The system utilizes multi-modal feedback—both visual and haptic—tailored to the criticality of the situation and the user's context. We implemented AI-driven context recognition that allows DetectWatch to adapt notifications in real-time. Furthermore, DetectWatch integrates with existing communication systems to ensure seamless operation within established workflows.</a:t>
            </a:r>
            <a:endParaRPr dirty="0">
              <a:solidFill>
                <a:schemeClr val="dk1"/>
              </a:solidFill>
            </a:endParaRPr>
          </a:p>
          <a:p>
            <a:pPr marL="0" lvl="0" indent="0" algn="l" rtl="0">
              <a:lnSpc>
                <a:spcPct val="115000"/>
              </a:lnSpc>
              <a:spcBef>
                <a:spcPts val="1200"/>
              </a:spcBef>
              <a:spcAft>
                <a:spcPts val="1200"/>
              </a:spcAft>
              <a:buNone/>
            </a:pPr>
            <a:endParaRPr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20372f4631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220372f4631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t>In this demo, you can see how the DetectWatch is built to help users. The watch automatically detects when user is in a high-stress scenario and provides users a notification for situational awareness. As you can see on the left, it switches interface so that the user can see relevant users and communicate with other peple to address the given critical situations.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20372f463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20372f463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 evaluate DetectWatch, we conducted a study with 60 participants, representing healthcare, emergency response, and military sectors. We focused on three key metrics: response time, user satisfaction, and cognitive load. Our results showed an average response time improvement of 25%, with participants responding faster to critical updates. User satisfaction was high, with an average rating of 4.6 out of 5. Importantly, we observed a 20% reduction in cognitive load, measured by the NASA-TLX scale. Participants praised DetectWatch for allowing them to stay focused while remaining informed, and they found the haptic feedback subtle yet effective."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20372f4631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220372f463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conclusion, DetectWatch represents a significant advancement in enhancing situational awareness and interaction in critical environments. We have demonstrated its effectiveness in improving response times and user satisfaction while reducing cognitive load. Moving forward, we plan to expand DetectWatch to other critical domains, such as industrial safety, and explore more advanced machine learning models for even more precise context recognition. Additionally, we aim to conduct long-term field studies to assess the sustained impact of DetectWatch in real-world settings. Thank you for your attention, and I look forward to your questions</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B8BB-22F7-66A3-02C2-184DB0F66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08271E-D7BA-418B-C587-60A8CA19D0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43459D-3C8C-2578-81CF-581B7C9CE9B7}"/>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A9DDEB73-C1F3-BF2A-A942-77A8AF024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BBEA2-BDFF-C0ED-2073-BB79C7B572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79668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5E1D-936A-EC94-761E-DCC2BBAE4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033D4B-0C72-C2A6-516F-D01F64EE1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D6258C-5119-C589-2761-F136FB6F2474}"/>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FA9FF4DC-7ECC-A78F-6C63-65DFC1B13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5B64E6-3C3E-7D45-3548-F2BB67C4E2B1}"/>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13015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ED77-9E0C-3274-BB6A-B0902648A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CE55B4-DBD7-843D-FC4D-D46C9B1193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CE2400-14E9-B848-741F-EA0C41580D44}"/>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19D13E98-C1E6-E82F-A79F-43DBA03E8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03BA6-4058-1AFC-7AD3-151B83A1D8A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4251874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0F56D-8ACA-6A2B-89D1-447C4C1D4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A17329-21B4-C24C-408D-AA0CC3E2B8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1F5AB0-28E9-95C4-1A7A-EFC94199D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914C90-72C1-CC26-6CF3-E662A812A57A}"/>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6" name="Footer Placeholder 5">
            <a:extLst>
              <a:ext uri="{FF2B5EF4-FFF2-40B4-BE49-F238E27FC236}">
                <a16:creationId xmlns:a16="http://schemas.microsoft.com/office/drawing/2014/main" id="{F369BCD8-DE0A-429B-D1FA-C36D98B313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53A60C-DE95-5A7E-C9CB-9108A04CB0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818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0482-2FA6-08A1-0434-EF9AFFF32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2F5730-409F-397F-14BC-7885C8CA1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D40483-CB20-0D07-A125-D1A13232E4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D2A00C-5D2E-AE35-BE43-E649F6CFF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8B914-C84D-07FA-5E92-38B71C3937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075F3D-1F38-0F58-7EC4-72734815E0E9}"/>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8" name="Footer Placeholder 7">
            <a:extLst>
              <a:ext uri="{FF2B5EF4-FFF2-40B4-BE49-F238E27FC236}">
                <a16:creationId xmlns:a16="http://schemas.microsoft.com/office/drawing/2014/main" id="{83D2CD82-6C0B-C8F4-622D-8F90A4C53A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3102EA-1CBA-EE0B-1133-E1CE34085CA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09225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D8F0-1D77-A6AD-1A81-8BEF0593CD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320025-F050-8AEC-474E-8CA7BF0A16A7}"/>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4" name="Footer Placeholder 3">
            <a:extLst>
              <a:ext uri="{FF2B5EF4-FFF2-40B4-BE49-F238E27FC236}">
                <a16:creationId xmlns:a16="http://schemas.microsoft.com/office/drawing/2014/main" id="{BB342B21-4A39-A96A-4EDA-9E33CCEFB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A23578-8303-F3B9-84AE-7373E4F1FBC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0531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F7A46C-8D23-AF98-C358-52F3DA72A29D}"/>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3" name="Footer Placeholder 2">
            <a:extLst>
              <a:ext uri="{FF2B5EF4-FFF2-40B4-BE49-F238E27FC236}">
                <a16:creationId xmlns:a16="http://schemas.microsoft.com/office/drawing/2014/main" id="{9F80BBA7-4421-7026-38B6-E942C7AF63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EB5B50-572E-2292-9C29-6B8F0DEA773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161021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49C9-C176-5853-4C90-97EF743302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4C5B3D-A20C-BA62-C999-9DDAA152A7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DE16B0-3DC0-80E3-E01E-E5F7D6673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6C1BBE-3030-C625-F529-6E8479FE3C00}"/>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6" name="Footer Placeholder 5">
            <a:extLst>
              <a:ext uri="{FF2B5EF4-FFF2-40B4-BE49-F238E27FC236}">
                <a16:creationId xmlns:a16="http://schemas.microsoft.com/office/drawing/2014/main" id="{A1C51720-0357-CD3E-7948-70941414D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CEEA3-2A87-F504-D1F2-22A919BD7340}"/>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3492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5239-9E2A-A1CA-6BEC-842F949D1B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1F02C3-B907-2E2B-2E47-D9A5A8BE45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3F00C6-17AF-5436-917B-AE4FFC500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DE7EA-4ABF-AEC6-F79C-F69D691DCD89}"/>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6" name="Footer Placeholder 5">
            <a:extLst>
              <a:ext uri="{FF2B5EF4-FFF2-40B4-BE49-F238E27FC236}">
                <a16:creationId xmlns:a16="http://schemas.microsoft.com/office/drawing/2014/main" id="{01F6B7D0-B4EF-EA56-E0B9-82EA44BBD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B10DE-6DD0-20A1-9A00-3138711F9FFB}"/>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2086753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6E5-FE18-2477-DB09-2037D393A7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CFFD40-A702-54DA-45D9-29E45043A1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87847D-2A6E-D983-98F8-E48472C948D6}"/>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3C1414EF-324D-2208-9012-0C77C19C3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C8AA4-BB89-0AD3-1D9B-FD4789FAC068}"/>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42592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F5E5A-00CC-8C5F-D367-CA2332A41E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DBB4FD-4400-7FAA-4F30-7EA76758F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95387A-20C4-F2B9-16B2-150827C722D8}"/>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D3209152-62FD-C0D7-1BA7-8793A3093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E20D-61EC-F993-D14C-44B9B9B0245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162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15980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4BBCFF-611C-BA18-CB37-92FF96D8C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EF4D33-0533-C581-0D33-5AA309BFEF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2C5FD4-9D91-E604-17DE-4F89368AEA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2E56EDFA-4069-A972-F652-8B70677D3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2E8FF2-FD96-54EF-BFFA-1A9E84C8F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E27035-7CE7-1747-9EC1-B22839B31021}" type="slidenum">
              <a:rPr lang="en-US" smtClean="0"/>
              <a:t>‹#›</a:t>
            </a:fld>
            <a:endParaRPr lang="en-US"/>
          </a:p>
        </p:txBody>
      </p:sp>
    </p:spTree>
    <p:extLst>
      <p:ext uri="{BB962C8B-B14F-4D97-AF65-F5344CB8AC3E}">
        <p14:creationId xmlns:p14="http://schemas.microsoft.com/office/powerpoint/2010/main" val="1805982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hyperlink" Target="https://youtube.com/shorts/VFOCTCb_omM?si=GAUVNkwgAcPmFsbt"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5" name="그림 4" descr="텍스트, 손목시계, 사람, 시계이(가) 표시된 사진&#10;&#10;자동 생성된 설명">
            <a:extLst>
              <a:ext uri="{FF2B5EF4-FFF2-40B4-BE49-F238E27FC236}">
                <a16:creationId xmlns:a16="http://schemas.microsoft.com/office/drawing/2014/main" id="{5A989DD2-91DE-4CDF-B0A1-BDC71E5DEFC4}"/>
              </a:ext>
            </a:extLst>
          </p:cNvPr>
          <p:cNvPicPr>
            <a:picLocks noChangeAspect="1"/>
          </p:cNvPicPr>
          <p:nvPr/>
        </p:nvPicPr>
        <p:blipFill>
          <a:blip r:embed="rId3"/>
          <a:stretch>
            <a:fillRect/>
          </a:stretch>
        </p:blipFill>
        <p:spPr>
          <a:xfrm>
            <a:off x="95250" y="0"/>
            <a:ext cx="12001500" cy="6858000"/>
          </a:xfrm>
          <a:prstGeom prst="rect">
            <a:avLst/>
          </a:prstGeom>
        </p:spPr>
      </p:pic>
      <p:sp>
        <p:nvSpPr>
          <p:cNvPr id="291" name="Google Shape;291;p48"/>
          <p:cNvSpPr txBox="1">
            <a:spLocks noGrp="1"/>
          </p:cNvSpPr>
          <p:nvPr>
            <p:ph type="ctrTitle"/>
          </p:nvPr>
        </p:nvSpPr>
        <p:spPr>
          <a:xfrm>
            <a:off x="1572200" y="372001"/>
            <a:ext cx="9047600" cy="2661600"/>
          </a:xfrm>
          <a:prstGeom prst="rect">
            <a:avLst/>
          </a:prstGeom>
          <a:solidFill>
            <a:schemeClr val="lt1"/>
          </a:solidFill>
        </p:spPr>
        <p:txBody>
          <a:bodyPr spcFirstLastPara="1" vert="horz" wrap="square" lIns="121900" tIns="121900" rIns="121900" bIns="121900" rtlCol="0" anchor="b" anchorCtr="0">
            <a:noAutofit/>
          </a:bodyPr>
          <a:lstStyle/>
          <a:p>
            <a:pPr>
              <a:spcBef>
                <a:spcPts val="0"/>
              </a:spcBef>
              <a:buSzPts val="1100"/>
            </a:pPr>
            <a:r>
              <a:rPr lang="en" sz="5040"/>
              <a:t>DetectWatch: Enhancing Situational Awareness and Interaction in Critical Contexts</a:t>
            </a:r>
            <a:endParaRPr sz="5040"/>
          </a:p>
        </p:txBody>
      </p:sp>
      <p:sp>
        <p:nvSpPr>
          <p:cNvPr id="292" name="Google Shape;292;p48"/>
          <p:cNvSpPr txBox="1"/>
          <p:nvPr/>
        </p:nvSpPr>
        <p:spPr>
          <a:xfrm>
            <a:off x="-6350000" y="3429001"/>
            <a:ext cx="4000000" cy="1723508"/>
          </a:xfrm>
          <a:prstGeom prst="rect">
            <a:avLst/>
          </a:prstGeom>
          <a:noFill/>
          <a:ln>
            <a:noFill/>
          </a:ln>
        </p:spPr>
        <p:txBody>
          <a:bodyPr spcFirstLastPara="1" wrap="square" lIns="121900" tIns="121900" rIns="121900" bIns="121900" anchor="t" anchorCtr="0">
            <a:spAutoFit/>
          </a:bodyPr>
          <a:lstStyle/>
          <a:p>
            <a:r>
              <a:rPr lang="en" sz="2400"/>
              <a:t>https://www.amazon.in/Wildforlife-Anime-Detective-Conan-Collectors/dp/B0783QRQZZ</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Motivation</a:t>
            </a:r>
            <a:endParaRPr/>
          </a:p>
        </p:txBody>
      </p:sp>
      <p:sp>
        <p:nvSpPr>
          <p:cNvPr id="298" name="Google Shape;298;p49"/>
          <p:cNvSpPr txBox="1">
            <a:spLocks noGrp="1"/>
          </p:cNvSpPr>
          <p:nvPr>
            <p:ph type="body" idx="1"/>
          </p:nvPr>
        </p:nvSpPr>
        <p:spPr>
          <a:xfrm>
            <a:off x="415600" y="1536633"/>
            <a:ext cx="6834400" cy="4555200"/>
          </a:xfrm>
          <a:prstGeom prst="rect">
            <a:avLst/>
          </a:prstGeom>
        </p:spPr>
        <p:txBody>
          <a:bodyPr spcFirstLastPara="1" vert="horz" wrap="square" lIns="121900" tIns="121900" rIns="121900" bIns="121900" rtlCol="0" anchor="t" anchorCtr="0">
            <a:normAutofit fontScale="92500" lnSpcReduction="10000"/>
          </a:bodyPr>
          <a:lstStyle/>
          <a:p>
            <a:pPr>
              <a:lnSpc>
                <a:spcPct val="110000"/>
              </a:lnSpc>
              <a:buFont typeface="Arial" panose="020B0604020202020204" pitchFamily="34" charset="0"/>
              <a:buChar char="•"/>
            </a:pPr>
            <a:r>
              <a:rPr lang="en" sz="2600" dirty="0"/>
              <a:t>Importance of situational awareness in critical environments </a:t>
            </a:r>
            <a:endParaRPr sz="2600" dirty="0"/>
          </a:p>
          <a:p>
            <a:pPr lvl="1">
              <a:lnSpc>
                <a:spcPct val="110000"/>
              </a:lnSpc>
              <a:buFont typeface="Arial" panose="020B0604020202020204" pitchFamily="34" charset="0"/>
              <a:buChar char="•"/>
            </a:pPr>
            <a:r>
              <a:rPr lang="en" dirty="0"/>
              <a:t>e.g., healthcare, emergency response, military operations</a:t>
            </a:r>
            <a:endParaRPr dirty="0"/>
          </a:p>
          <a:p>
            <a:pPr>
              <a:lnSpc>
                <a:spcPct val="110000"/>
              </a:lnSpc>
              <a:buFont typeface="Arial" panose="020B0604020202020204" pitchFamily="34" charset="0"/>
              <a:buChar char="•"/>
            </a:pPr>
            <a:r>
              <a:rPr lang="en" sz="2600" dirty="0"/>
              <a:t>Existing gaps in supporting real-time interaction and awareness in dynamic and high-stress scenarios.</a:t>
            </a:r>
            <a:endParaRPr sz="2600" dirty="0"/>
          </a:p>
          <a:p>
            <a:pPr>
              <a:lnSpc>
                <a:spcPct val="110000"/>
              </a:lnSpc>
              <a:buFont typeface="Arial" panose="020B0604020202020204" pitchFamily="34" charset="0"/>
              <a:buChar char="•"/>
            </a:pPr>
            <a:r>
              <a:rPr lang="en" sz="2600" dirty="0"/>
              <a:t>The need for a wearable solution that integrates seamlessly with users' workflows to enhance their situational awareness without adding cognitive load.</a:t>
            </a:r>
            <a:endParaRPr sz="2600" dirty="0"/>
          </a:p>
        </p:txBody>
      </p:sp>
      <p:pic>
        <p:nvPicPr>
          <p:cNvPr id="299" name="Google Shape;299;p49"/>
          <p:cNvPicPr preferRelativeResize="0"/>
          <p:nvPr/>
        </p:nvPicPr>
        <p:blipFill rotWithShape="1">
          <a:blip r:embed="rId3">
            <a:alphaModFix/>
          </a:blip>
          <a:srcRect t="11902"/>
          <a:stretch/>
        </p:blipFill>
        <p:spPr>
          <a:xfrm>
            <a:off x="7250000" y="1536633"/>
            <a:ext cx="4267308" cy="375953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Previous Research</a:t>
            </a:r>
            <a:endParaRPr/>
          </a:p>
        </p:txBody>
      </p:sp>
      <p:sp>
        <p:nvSpPr>
          <p:cNvPr id="305" name="Google Shape;305;p5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a:lnSpc>
                <a:spcPct val="100000"/>
              </a:lnSpc>
              <a:buFont typeface="Arial" panose="020B0604020202020204" pitchFamily="34" charset="0"/>
              <a:buChar char="•"/>
            </a:pPr>
            <a:r>
              <a:rPr lang="en" sz="2400" dirty="0">
                <a:solidFill>
                  <a:schemeClr val="dk1"/>
                </a:solidFill>
              </a:rPr>
              <a:t>"AlertMe: Enhancing Medical Staff Response Time Through Wearable Notifications"</a:t>
            </a:r>
            <a:endParaRPr sz="2400" dirty="0">
              <a:solidFill>
                <a:schemeClr val="dk1"/>
              </a:solidFill>
            </a:endParaRPr>
          </a:p>
          <a:p>
            <a:pPr>
              <a:lnSpc>
                <a:spcPct val="100000"/>
              </a:lnSpc>
              <a:buFont typeface="Arial" panose="020B0604020202020204" pitchFamily="34" charset="0"/>
              <a:buChar char="•"/>
            </a:pPr>
            <a:r>
              <a:rPr lang="en" sz="2400" dirty="0">
                <a:solidFill>
                  <a:schemeClr val="dk1"/>
                </a:solidFill>
              </a:rPr>
              <a:t>"SituAware: A Context-Aware Framework for Emergency Response Systems"</a:t>
            </a:r>
            <a:endParaRPr sz="2400" dirty="0">
              <a:solidFill>
                <a:schemeClr val="dk1"/>
              </a:solidFill>
            </a:endParaRPr>
          </a:p>
          <a:p>
            <a:pPr>
              <a:lnSpc>
                <a:spcPct val="100000"/>
              </a:lnSpc>
              <a:buFont typeface="Arial" panose="020B0604020202020204" pitchFamily="34" charset="0"/>
              <a:buChar char="•"/>
            </a:pPr>
            <a:r>
              <a:rPr lang="en" sz="2400" dirty="0">
                <a:solidFill>
                  <a:schemeClr val="dk1"/>
                </a:solidFill>
              </a:rPr>
              <a:t>"WristSense: A Wearable Device for Real-Time Monitoring in High-Risk Environments"</a:t>
            </a:r>
            <a:endParaRPr sz="2400" dirty="0">
              <a:solidFill>
                <a:schemeClr val="dk1"/>
              </a:solidFill>
            </a:endParaRPr>
          </a:p>
          <a:p>
            <a:pPr>
              <a:lnSpc>
                <a:spcPct val="100000"/>
              </a:lnSpc>
              <a:buFont typeface="Arial" panose="020B0604020202020204" pitchFamily="34" charset="0"/>
              <a:buChar char="•"/>
            </a:pPr>
            <a:r>
              <a:rPr lang="en" sz="2400" b="1" dirty="0">
                <a:solidFill>
                  <a:schemeClr val="dk1"/>
                </a:solidFill>
              </a:rPr>
              <a:t>Limitations: </a:t>
            </a:r>
            <a:endParaRPr sz="2400" b="1" dirty="0">
              <a:solidFill>
                <a:schemeClr val="dk1"/>
              </a:solidFill>
            </a:endParaRPr>
          </a:p>
          <a:p>
            <a:pPr lvl="1" indent="-457189">
              <a:lnSpc>
                <a:spcPct val="100000"/>
              </a:lnSpc>
              <a:buSzPts val="1800"/>
              <a:buFont typeface="Arial" panose="020B0604020202020204" pitchFamily="34" charset="0"/>
              <a:buChar char="•"/>
            </a:pPr>
            <a:r>
              <a:rPr lang="en" sz="2000" dirty="0">
                <a:solidFill>
                  <a:schemeClr val="dk1"/>
                </a:solidFill>
              </a:rPr>
              <a:t>Lack of integration with existing workflows</a:t>
            </a:r>
            <a:endParaRPr sz="2000" dirty="0">
              <a:solidFill>
                <a:schemeClr val="dk1"/>
              </a:solidFill>
            </a:endParaRPr>
          </a:p>
          <a:p>
            <a:pPr lvl="1" indent="-457189">
              <a:lnSpc>
                <a:spcPct val="100000"/>
              </a:lnSpc>
              <a:buSzPts val="1800"/>
              <a:buFont typeface="Arial" panose="020B0604020202020204" pitchFamily="34" charset="0"/>
              <a:buChar char="•"/>
            </a:pPr>
            <a:r>
              <a:rPr lang="en" sz="2000" dirty="0">
                <a:solidFill>
                  <a:schemeClr val="dk1"/>
                </a:solidFill>
              </a:rPr>
              <a:t>Excessive cognitive demands</a:t>
            </a:r>
            <a:endParaRPr sz="2000" dirty="0">
              <a:solidFill>
                <a:schemeClr val="dk1"/>
              </a:solidFill>
            </a:endParaRPr>
          </a:p>
          <a:p>
            <a:pPr lvl="1" indent="-457189">
              <a:lnSpc>
                <a:spcPct val="100000"/>
              </a:lnSpc>
              <a:buSzPts val="1800"/>
              <a:buFont typeface="Arial" panose="020B0604020202020204" pitchFamily="34" charset="0"/>
              <a:buChar char="•"/>
            </a:pPr>
            <a:r>
              <a:rPr lang="en" sz="2000" dirty="0">
                <a:solidFill>
                  <a:schemeClr val="dk1"/>
                </a:solidFill>
              </a:rPr>
              <a:t>Poor adaptability to rapidly changing contexts</a:t>
            </a:r>
            <a:endParaRPr sz="20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4" name="그림 3" descr="텍스트, 손목시계, 사람, 시계이(가) 표시된 사진&#10;&#10;자동 생성된 설명">
            <a:extLst>
              <a:ext uri="{FF2B5EF4-FFF2-40B4-BE49-F238E27FC236}">
                <a16:creationId xmlns:a16="http://schemas.microsoft.com/office/drawing/2014/main" id="{C0950048-0E8A-A128-CB4E-225E9B94ED63}"/>
              </a:ext>
            </a:extLst>
          </p:cNvPr>
          <p:cNvPicPr>
            <a:picLocks noChangeAspect="1"/>
          </p:cNvPicPr>
          <p:nvPr/>
        </p:nvPicPr>
        <p:blipFill>
          <a:blip r:embed="rId3"/>
          <a:stretch>
            <a:fillRect/>
          </a:stretch>
        </p:blipFill>
        <p:spPr>
          <a:xfrm>
            <a:off x="-23495" y="-314960"/>
            <a:ext cx="12238990" cy="7172960"/>
          </a:xfrm>
          <a:prstGeom prst="rect">
            <a:avLst/>
          </a:prstGeom>
        </p:spPr>
      </p:pic>
      <p:sp>
        <p:nvSpPr>
          <p:cNvPr id="311" name="Google Shape;311;p51"/>
          <p:cNvSpPr txBox="1">
            <a:spLocks noGrp="1"/>
          </p:cNvSpPr>
          <p:nvPr>
            <p:ph type="title"/>
          </p:nvPr>
        </p:nvSpPr>
        <p:spPr>
          <a:xfrm>
            <a:off x="415600" y="593367"/>
            <a:ext cx="6320400" cy="763600"/>
          </a:xfrm>
          <a:prstGeom prst="rect">
            <a:avLst/>
          </a:prstGeom>
          <a:solidFill>
            <a:schemeClr val="lt1"/>
          </a:solidFill>
        </p:spPr>
        <p:txBody>
          <a:bodyPr spcFirstLastPara="1" vert="horz" wrap="square" lIns="121900" tIns="121900" rIns="121900" bIns="121900" rtlCol="0" anchor="t" anchorCtr="0">
            <a:normAutofit fontScale="90000"/>
          </a:bodyPr>
          <a:lstStyle/>
          <a:p>
            <a:pPr>
              <a:buClr>
                <a:schemeClr val="dk1"/>
              </a:buClr>
              <a:buSzPct val="39285"/>
            </a:pPr>
            <a:r>
              <a:rPr lang="en"/>
              <a:t>Method: DetectWatch</a:t>
            </a:r>
            <a:endParaRPr/>
          </a:p>
          <a:p>
            <a:endParaRPr/>
          </a:p>
        </p:txBody>
      </p:sp>
      <p:sp>
        <p:nvSpPr>
          <p:cNvPr id="312" name="Google Shape;312;p51"/>
          <p:cNvSpPr txBox="1">
            <a:spLocks noGrp="1"/>
          </p:cNvSpPr>
          <p:nvPr>
            <p:ph type="body" idx="1"/>
          </p:nvPr>
        </p:nvSpPr>
        <p:spPr>
          <a:xfrm>
            <a:off x="164167" y="1877321"/>
            <a:ext cx="3007200" cy="1447388"/>
          </a:xfrm>
          <a:prstGeom prst="rect">
            <a:avLst/>
          </a:prstGeom>
          <a:solidFill>
            <a:schemeClr val="lt1"/>
          </a:solidFill>
        </p:spPr>
        <p:txBody>
          <a:bodyPr spcFirstLastPara="1" vert="horz" wrap="square" lIns="121900" tIns="121900" rIns="121900" bIns="121900" rtlCol="0" anchor="ctr" anchorCtr="0">
            <a:noAutofit/>
          </a:bodyPr>
          <a:lstStyle/>
          <a:p>
            <a:pPr marL="0" indent="0">
              <a:lnSpc>
                <a:spcPct val="100000"/>
              </a:lnSpc>
              <a:spcBef>
                <a:spcPts val="2400"/>
              </a:spcBef>
              <a:buNone/>
            </a:pPr>
            <a:r>
              <a:rPr lang="en" sz="1600" dirty="0">
                <a:solidFill>
                  <a:schemeClr val="dk1"/>
                </a:solidFill>
              </a:rPr>
              <a:t>Wearable device with context-aware notification system.</a:t>
            </a:r>
            <a:endParaRPr sz="1600" dirty="0">
              <a:solidFill>
                <a:schemeClr val="dk1"/>
              </a:solidFill>
            </a:endParaRPr>
          </a:p>
        </p:txBody>
      </p:sp>
      <p:sp>
        <p:nvSpPr>
          <p:cNvPr id="313" name="Google Shape;313;p51"/>
          <p:cNvSpPr txBox="1">
            <a:spLocks noGrp="1"/>
          </p:cNvSpPr>
          <p:nvPr>
            <p:ph type="body" idx="1"/>
          </p:nvPr>
        </p:nvSpPr>
        <p:spPr>
          <a:xfrm>
            <a:off x="9220633" y="769333"/>
            <a:ext cx="2807200" cy="1002800"/>
          </a:xfrm>
          <a:prstGeom prst="rect">
            <a:avLst/>
          </a:prstGeom>
          <a:solidFill>
            <a:schemeClr val="lt1"/>
          </a:solidFill>
        </p:spPr>
        <p:txBody>
          <a:bodyPr spcFirstLastPara="1" vert="horz" wrap="square" lIns="121900" tIns="121900" rIns="121900" bIns="121900" rtlCol="0" anchor="ctr" anchorCtr="0">
            <a:noAutofit/>
          </a:bodyPr>
          <a:lstStyle/>
          <a:p>
            <a:pPr marL="0" indent="0">
              <a:spcBef>
                <a:spcPts val="2400"/>
              </a:spcBef>
              <a:spcAft>
                <a:spcPts val="2400"/>
              </a:spcAft>
              <a:buNone/>
            </a:pPr>
            <a:r>
              <a:rPr lang="en" sz="1600" dirty="0">
                <a:solidFill>
                  <a:schemeClr val="dk1"/>
                </a:solidFill>
              </a:rPr>
              <a:t>AI-driven context recognition to adapt notifications in real-time.</a:t>
            </a:r>
            <a:endParaRPr sz="1600" dirty="0"/>
          </a:p>
        </p:txBody>
      </p:sp>
      <p:sp>
        <p:nvSpPr>
          <p:cNvPr id="314" name="Google Shape;314;p51"/>
          <p:cNvSpPr txBox="1">
            <a:spLocks noGrp="1"/>
          </p:cNvSpPr>
          <p:nvPr>
            <p:ph type="body" idx="1"/>
          </p:nvPr>
        </p:nvSpPr>
        <p:spPr>
          <a:xfrm>
            <a:off x="9220633" y="1982096"/>
            <a:ext cx="2807200" cy="1002800"/>
          </a:xfrm>
          <a:prstGeom prst="rect">
            <a:avLst/>
          </a:prstGeom>
          <a:solidFill>
            <a:schemeClr val="lt1"/>
          </a:solidFill>
        </p:spPr>
        <p:txBody>
          <a:bodyPr spcFirstLastPara="1" vert="horz" wrap="square" lIns="121900" tIns="121900" rIns="121900" bIns="121900" rtlCol="0" anchor="ctr" anchorCtr="0">
            <a:noAutofit/>
          </a:bodyPr>
          <a:lstStyle/>
          <a:p>
            <a:pPr marL="0" indent="0">
              <a:spcBef>
                <a:spcPts val="2400"/>
              </a:spcBef>
              <a:spcAft>
                <a:spcPts val="2400"/>
              </a:spcAft>
              <a:buNone/>
            </a:pPr>
            <a:r>
              <a:rPr lang="en" sz="1600" dirty="0">
                <a:solidFill>
                  <a:schemeClr val="dk1"/>
                </a:solidFill>
              </a:rPr>
              <a:t>Integration with existing communication systems for seamless operation.</a:t>
            </a:r>
            <a:endParaRPr sz="1600" dirty="0"/>
          </a:p>
        </p:txBody>
      </p:sp>
      <p:sp>
        <p:nvSpPr>
          <p:cNvPr id="315" name="Google Shape;315;p51"/>
          <p:cNvSpPr txBox="1">
            <a:spLocks noGrp="1"/>
          </p:cNvSpPr>
          <p:nvPr>
            <p:ph type="body" idx="1"/>
          </p:nvPr>
        </p:nvSpPr>
        <p:spPr>
          <a:xfrm>
            <a:off x="164167" y="3494817"/>
            <a:ext cx="3007200" cy="1242633"/>
          </a:xfrm>
          <a:prstGeom prst="rect">
            <a:avLst/>
          </a:prstGeom>
          <a:solidFill>
            <a:schemeClr val="lt1"/>
          </a:solidFill>
        </p:spPr>
        <p:txBody>
          <a:bodyPr spcFirstLastPara="1" vert="horz" wrap="square" lIns="121900" tIns="121900" rIns="121900" bIns="121900" rtlCol="0" anchor="ctr" anchorCtr="0">
            <a:noAutofit/>
          </a:bodyPr>
          <a:lstStyle/>
          <a:p>
            <a:pPr marL="0" indent="0">
              <a:spcBef>
                <a:spcPts val="2400"/>
              </a:spcBef>
              <a:buNone/>
            </a:pPr>
            <a:r>
              <a:rPr lang="en" sz="1600" dirty="0">
                <a:solidFill>
                  <a:schemeClr val="dk1"/>
                </a:solidFill>
              </a:rPr>
              <a:t>Multi-modal feedback based on criticality and context.</a:t>
            </a:r>
            <a:endParaRPr sz="1600" dirty="0"/>
          </a:p>
        </p:txBody>
      </p:sp>
      <p:sp>
        <p:nvSpPr>
          <p:cNvPr id="316" name="Google Shape;316;p51"/>
          <p:cNvSpPr txBox="1"/>
          <p:nvPr/>
        </p:nvSpPr>
        <p:spPr>
          <a:xfrm>
            <a:off x="-6350000" y="3429000"/>
            <a:ext cx="4000000" cy="615513"/>
          </a:xfrm>
          <a:prstGeom prst="rect">
            <a:avLst/>
          </a:prstGeom>
          <a:noFill/>
          <a:ln>
            <a:noFill/>
          </a:ln>
        </p:spPr>
        <p:txBody>
          <a:bodyPr spcFirstLastPara="1" wrap="square" lIns="121900" tIns="121900" rIns="121900" bIns="121900" anchor="t" anchorCtr="0">
            <a:spAutoFit/>
          </a:bodyPr>
          <a:lstStyle/>
          <a:p>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 name="그림 2" descr="시계, 손목시계, 정보기기, 전자 기기이(가) 표시된 사진&#10;&#10;자동 생성된 설명">
            <a:extLst>
              <a:ext uri="{FF2B5EF4-FFF2-40B4-BE49-F238E27FC236}">
                <a16:creationId xmlns:a16="http://schemas.microsoft.com/office/drawing/2014/main" id="{3B8EAAB4-4A4C-0189-4096-93E47804E508}"/>
              </a:ext>
            </a:extLst>
          </p:cNvPr>
          <p:cNvPicPr>
            <a:picLocks noChangeAspect="1"/>
          </p:cNvPicPr>
          <p:nvPr/>
        </p:nvPicPr>
        <p:blipFill>
          <a:blip r:embed="rId3"/>
          <a:stretch>
            <a:fillRect/>
          </a:stretch>
        </p:blipFill>
        <p:spPr>
          <a:xfrm>
            <a:off x="-615696" y="0"/>
            <a:ext cx="13423392" cy="7563565"/>
          </a:xfrm>
          <a:prstGeom prst="rect">
            <a:avLst/>
          </a:prstGeom>
        </p:spPr>
      </p:pic>
      <p:sp>
        <p:nvSpPr>
          <p:cNvPr id="323" name="Google Shape;323;p52"/>
          <p:cNvSpPr txBox="1">
            <a:spLocks noGrp="1"/>
          </p:cNvSpPr>
          <p:nvPr>
            <p:ph type="title"/>
          </p:nvPr>
        </p:nvSpPr>
        <p:spPr>
          <a:xfrm>
            <a:off x="445833" y="321233"/>
            <a:ext cx="1593600" cy="885600"/>
          </a:xfrm>
          <a:prstGeom prst="rect">
            <a:avLst/>
          </a:prstGeom>
          <a:solidFill>
            <a:schemeClr val="lt1"/>
          </a:solidFill>
        </p:spPr>
        <p:txBody>
          <a:bodyPr spcFirstLastPara="1" vert="horz" wrap="square" lIns="121900" tIns="121900" rIns="121900" bIns="121900" rtlCol="0" anchor="t" anchorCtr="0">
            <a:normAutofit fontScale="90000"/>
          </a:bodyPr>
          <a:lstStyle/>
          <a:p>
            <a:r>
              <a:rPr lang="en"/>
              <a:t>Demo</a:t>
            </a:r>
            <a:endParaRPr/>
          </a:p>
        </p:txBody>
      </p:sp>
      <p:sp>
        <p:nvSpPr>
          <p:cNvPr id="324" name="Google Shape;324;p52"/>
          <p:cNvSpPr txBox="1">
            <a:spLocks noGrp="1"/>
          </p:cNvSpPr>
          <p:nvPr>
            <p:ph type="body" idx="1"/>
          </p:nvPr>
        </p:nvSpPr>
        <p:spPr>
          <a:xfrm>
            <a:off x="-8960400" y="-1305767"/>
            <a:ext cx="6586000" cy="4555200"/>
          </a:xfrm>
          <a:prstGeom prst="rect">
            <a:avLst/>
          </a:prstGeom>
        </p:spPr>
        <p:txBody>
          <a:bodyPr spcFirstLastPara="1" vert="horz" wrap="square" lIns="121900" tIns="121900" rIns="121900" bIns="121900" rtlCol="0" anchor="t" anchorCtr="0">
            <a:normAutofit/>
          </a:bodyPr>
          <a:lstStyle/>
          <a:p>
            <a:pPr marL="0" indent="0">
              <a:buNone/>
            </a:pPr>
            <a:endParaRPr/>
          </a:p>
          <a:p>
            <a:pPr indent="-422899">
              <a:spcBef>
                <a:spcPts val="1600"/>
              </a:spcBef>
              <a:buSzPct val="100000"/>
              <a:buChar char="-"/>
            </a:pPr>
            <a:r>
              <a:rPr lang="en"/>
              <a:t>Law enforcement and security</a:t>
            </a:r>
            <a:endParaRPr/>
          </a:p>
          <a:p>
            <a:pPr indent="-422899">
              <a:buSzPct val="100000"/>
              <a:buChar char="-"/>
            </a:pPr>
            <a:r>
              <a:rPr lang="en"/>
              <a:t>Emergency medical services</a:t>
            </a:r>
            <a:endParaRPr/>
          </a:p>
          <a:p>
            <a:pPr indent="-422899">
              <a:buSzPct val="100000"/>
              <a:buChar char="-"/>
            </a:pPr>
            <a:r>
              <a:rPr lang="en"/>
              <a:t>Corporate and diplomatic security</a:t>
            </a:r>
            <a:endParaRPr/>
          </a:p>
          <a:p>
            <a:pPr indent="-422899">
              <a:buSzPct val="100000"/>
              <a:buChar char="-"/>
            </a:pPr>
            <a:r>
              <a:rPr lang="en"/>
              <a:t>Extreme sports and adventure scenarios</a:t>
            </a:r>
            <a:endParaRPr/>
          </a:p>
          <a:p>
            <a:pPr marL="0" indent="0">
              <a:spcBef>
                <a:spcPts val="1600"/>
              </a:spcBef>
              <a:buNone/>
            </a:pPr>
            <a:r>
              <a:rPr lang="en" u="sng">
                <a:solidFill>
                  <a:schemeClr val="hlink"/>
                </a:solidFill>
                <a:hlinkClick r:id="rId4"/>
              </a:rPr>
              <a:t>https://youtube.com/shorts/VFOCTCb_omM?si=GAUVNkwgAcPmFsbt</a:t>
            </a:r>
            <a:endParaRPr/>
          </a:p>
          <a:p>
            <a:pPr marL="0" indent="0">
              <a:spcBef>
                <a:spcPts val="1600"/>
              </a:spcBef>
              <a:buNone/>
            </a:pPr>
            <a:endParaRPr/>
          </a:p>
          <a:p>
            <a:pPr marL="0" indent="0">
              <a:spcBef>
                <a:spcPts val="1600"/>
              </a:spcBef>
              <a:buNone/>
            </a:pPr>
            <a:endParaRPr/>
          </a:p>
          <a:p>
            <a:pPr marL="0" indent="0">
              <a:spcBef>
                <a:spcPts val="1600"/>
              </a:spcBef>
              <a:buNone/>
            </a:pPr>
            <a:endParaRPr/>
          </a:p>
          <a:p>
            <a:pPr marL="0" indent="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Evaluation Study and Findings</a:t>
            </a:r>
            <a:endParaRPr/>
          </a:p>
        </p:txBody>
      </p:sp>
      <p:sp>
        <p:nvSpPr>
          <p:cNvPr id="330" name="Google Shape;330;p53"/>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lnSpc>
                <a:spcPct val="100000"/>
              </a:lnSpc>
              <a:buClr>
                <a:schemeClr val="dk1"/>
              </a:buClr>
              <a:buSzPts val="1100"/>
              <a:buNone/>
            </a:pPr>
            <a:r>
              <a:rPr lang="en" sz="2400" dirty="0">
                <a:solidFill>
                  <a:schemeClr val="dk1"/>
                </a:solidFill>
              </a:rPr>
              <a:t>Study with 60 participants (20 healthcare, 20 emergency response, 20 military).</a:t>
            </a:r>
            <a:endParaRPr sz="2400" dirty="0">
              <a:solidFill>
                <a:schemeClr val="dk1"/>
              </a:solidFill>
            </a:endParaRPr>
          </a:p>
          <a:p>
            <a:pPr marL="0" indent="0">
              <a:lnSpc>
                <a:spcPct val="100000"/>
              </a:lnSpc>
              <a:spcBef>
                <a:spcPts val="1600"/>
              </a:spcBef>
              <a:buClr>
                <a:schemeClr val="dk1"/>
              </a:buClr>
              <a:buSzPts val="1100"/>
              <a:buNone/>
            </a:pPr>
            <a:r>
              <a:rPr lang="en" sz="2400" b="1" dirty="0">
                <a:solidFill>
                  <a:schemeClr val="dk1"/>
                </a:solidFill>
              </a:rPr>
              <a:t>Metrics:</a:t>
            </a:r>
            <a:endParaRPr sz="2400" b="1" dirty="0">
              <a:solidFill>
                <a:schemeClr val="dk1"/>
              </a:solidFill>
            </a:endParaRPr>
          </a:p>
          <a:p>
            <a:pPr>
              <a:lnSpc>
                <a:spcPct val="100000"/>
              </a:lnSpc>
              <a:spcBef>
                <a:spcPts val="1600"/>
              </a:spcBef>
              <a:buClr>
                <a:schemeClr val="dk1"/>
              </a:buClr>
              <a:buFont typeface="Arial" panose="020B0604020202020204" pitchFamily="34" charset="0"/>
              <a:buChar char="•"/>
            </a:pPr>
            <a:r>
              <a:rPr lang="en" sz="2000" dirty="0">
                <a:solidFill>
                  <a:schemeClr val="dk1"/>
                </a:solidFill>
              </a:rPr>
              <a:t>Response time improvement (avg. 25% faster).</a:t>
            </a:r>
            <a:endParaRPr sz="2000" dirty="0">
              <a:solidFill>
                <a:schemeClr val="dk1"/>
              </a:solidFill>
            </a:endParaRPr>
          </a:p>
          <a:p>
            <a:pPr>
              <a:lnSpc>
                <a:spcPct val="100000"/>
              </a:lnSpc>
              <a:buClr>
                <a:schemeClr val="dk1"/>
              </a:buClr>
              <a:buFont typeface="Arial" panose="020B0604020202020204" pitchFamily="34" charset="0"/>
              <a:buChar char="•"/>
            </a:pPr>
            <a:r>
              <a:rPr lang="en" sz="2000" dirty="0">
                <a:solidFill>
                  <a:schemeClr val="dk1"/>
                </a:solidFill>
              </a:rPr>
              <a:t>User satisfaction (avg. 4.6/5).</a:t>
            </a:r>
            <a:endParaRPr sz="2000" dirty="0">
              <a:solidFill>
                <a:schemeClr val="dk1"/>
              </a:solidFill>
            </a:endParaRPr>
          </a:p>
          <a:p>
            <a:pPr>
              <a:lnSpc>
                <a:spcPct val="100000"/>
              </a:lnSpc>
              <a:buClr>
                <a:schemeClr val="dk1"/>
              </a:buClr>
              <a:buFont typeface="Arial" panose="020B0604020202020204" pitchFamily="34" charset="0"/>
              <a:buChar char="•"/>
            </a:pPr>
            <a:r>
              <a:rPr lang="en" sz="2000" dirty="0">
                <a:solidFill>
                  <a:schemeClr val="dk1"/>
                </a:solidFill>
              </a:rPr>
              <a:t>Reduction in cognitive load (measured by NASA-TLX, avg. 20% decrease).</a:t>
            </a:r>
            <a:endParaRPr sz="2000" dirty="0">
              <a:solidFill>
                <a:schemeClr val="dk1"/>
              </a:solidFill>
            </a:endParaRPr>
          </a:p>
          <a:p>
            <a:pPr marL="0" indent="0">
              <a:lnSpc>
                <a:spcPct val="100000"/>
              </a:lnSpc>
              <a:spcBef>
                <a:spcPts val="1600"/>
              </a:spcBef>
              <a:buClr>
                <a:schemeClr val="dk1"/>
              </a:buClr>
              <a:buSzPts val="1100"/>
              <a:buNone/>
            </a:pPr>
            <a:r>
              <a:rPr lang="en" sz="2400" b="1" dirty="0">
                <a:solidFill>
                  <a:schemeClr val="dk1"/>
                </a:solidFill>
              </a:rPr>
              <a:t>Feedback:</a:t>
            </a:r>
            <a:endParaRPr sz="2400" b="1" dirty="0">
              <a:solidFill>
                <a:schemeClr val="dk1"/>
              </a:solidFill>
            </a:endParaRPr>
          </a:p>
          <a:p>
            <a:pPr>
              <a:lnSpc>
                <a:spcPct val="100000"/>
              </a:lnSpc>
              <a:spcBef>
                <a:spcPts val="1600"/>
              </a:spcBef>
              <a:buClr>
                <a:schemeClr val="dk1"/>
              </a:buClr>
              <a:buFont typeface="Arial" panose="020B0604020202020204" pitchFamily="34" charset="0"/>
              <a:buChar char="•"/>
            </a:pPr>
            <a:r>
              <a:rPr lang="en" sz="2000" dirty="0">
                <a:solidFill>
                  <a:schemeClr val="dk1"/>
                </a:solidFill>
              </a:rPr>
              <a:t>"DetectWatch allowed me to stay focused on the task while staying informed."</a:t>
            </a:r>
            <a:endParaRPr sz="2000" dirty="0">
              <a:solidFill>
                <a:schemeClr val="dk1"/>
              </a:solidFill>
            </a:endParaRPr>
          </a:p>
          <a:p>
            <a:pPr>
              <a:lnSpc>
                <a:spcPct val="100000"/>
              </a:lnSpc>
              <a:buClr>
                <a:schemeClr val="dk1"/>
              </a:buClr>
              <a:buFont typeface="Arial" panose="020B0604020202020204" pitchFamily="34" charset="0"/>
              <a:buChar char="•"/>
            </a:pPr>
            <a:r>
              <a:rPr lang="en" sz="2000" dirty="0">
                <a:solidFill>
                  <a:schemeClr val="dk1"/>
                </a:solidFill>
              </a:rPr>
              <a:t>"The haptic feedback was subtle but effective in keeping me aware of critical updates."</a:t>
            </a:r>
            <a:endParaRPr sz="2000" dirty="0">
              <a:solidFill>
                <a:schemeClr val="dk1"/>
              </a:solidFill>
            </a:endParaRPr>
          </a:p>
          <a:p>
            <a:pPr marL="0" indent="0">
              <a:lnSpc>
                <a:spcPct val="100000"/>
              </a:lnSpc>
              <a:spcBef>
                <a:spcPts val="1600"/>
              </a:spcBef>
              <a:spcAft>
                <a:spcPts val="16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Conclusion and Future Work</a:t>
            </a:r>
            <a:endParaRPr/>
          </a:p>
        </p:txBody>
      </p:sp>
      <p:sp>
        <p:nvSpPr>
          <p:cNvPr id="336" name="Google Shape;336;p54"/>
          <p:cNvSpPr txBox="1">
            <a:spLocks noGrp="1"/>
          </p:cNvSpPr>
          <p:nvPr>
            <p:ph type="body" idx="1"/>
          </p:nvPr>
        </p:nvSpPr>
        <p:spPr>
          <a:xfrm>
            <a:off x="415600" y="1356967"/>
            <a:ext cx="6746800" cy="5065200"/>
          </a:xfrm>
          <a:prstGeom prst="rect">
            <a:avLst/>
          </a:prstGeom>
        </p:spPr>
        <p:txBody>
          <a:bodyPr spcFirstLastPara="1" vert="horz" wrap="square" lIns="121900" tIns="121900" rIns="121900" bIns="121900" rtlCol="0" anchor="t" anchorCtr="0">
            <a:noAutofit/>
          </a:bodyPr>
          <a:lstStyle/>
          <a:p>
            <a:pPr marL="0" indent="0">
              <a:lnSpc>
                <a:spcPct val="95000"/>
              </a:lnSpc>
              <a:buClr>
                <a:schemeClr val="dk1"/>
              </a:buClr>
              <a:buSzPts val="935"/>
              <a:buNone/>
            </a:pPr>
            <a:r>
              <a:rPr lang="en" sz="2400" dirty="0"/>
              <a:t>Summary of contributions:</a:t>
            </a:r>
            <a:endParaRPr sz="2400" dirty="0"/>
          </a:p>
          <a:p>
            <a:pPr>
              <a:lnSpc>
                <a:spcPct val="95000"/>
              </a:lnSpc>
              <a:spcBef>
                <a:spcPts val="1600"/>
              </a:spcBef>
              <a:buClr>
                <a:schemeClr val="dk1"/>
              </a:buClr>
              <a:buFont typeface="Arial" panose="020B0604020202020204" pitchFamily="34" charset="0"/>
              <a:buChar char="•"/>
            </a:pPr>
            <a:r>
              <a:rPr lang="en" sz="2000" dirty="0"/>
              <a:t>Developed Detective Watch, a context-aware wearable for critical environments.</a:t>
            </a:r>
            <a:endParaRPr sz="2000" dirty="0"/>
          </a:p>
          <a:p>
            <a:pPr>
              <a:lnSpc>
                <a:spcPct val="95000"/>
              </a:lnSpc>
              <a:buClr>
                <a:schemeClr val="dk1"/>
              </a:buClr>
              <a:buFont typeface="Arial" panose="020B0604020202020204" pitchFamily="34" charset="0"/>
              <a:buChar char="•"/>
            </a:pPr>
            <a:r>
              <a:rPr lang="en" sz="2000" dirty="0"/>
              <a:t>Demonstrated significant improvements in response time and user satisfaction.</a:t>
            </a:r>
            <a:endParaRPr sz="2000" dirty="0"/>
          </a:p>
          <a:p>
            <a:pPr marL="0" indent="0">
              <a:lnSpc>
                <a:spcPct val="95000"/>
              </a:lnSpc>
              <a:spcBef>
                <a:spcPts val="1600"/>
              </a:spcBef>
              <a:buClr>
                <a:schemeClr val="dk1"/>
              </a:buClr>
              <a:buSzPts val="935"/>
              <a:buNone/>
            </a:pPr>
            <a:r>
              <a:rPr lang="en" sz="2400" dirty="0"/>
              <a:t>Future work:</a:t>
            </a:r>
            <a:endParaRPr sz="2400" dirty="0"/>
          </a:p>
          <a:p>
            <a:pPr>
              <a:lnSpc>
                <a:spcPct val="95000"/>
              </a:lnSpc>
              <a:spcBef>
                <a:spcPts val="1600"/>
              </a:spcBef>
              <a:buClr>
                <a:schemeClr val="dk1"/>
              </a:buClr>
              <a:buFont typeface="Arial" panose="020B0604020202020204" pitchFamily="34" charset="0"/>
              <a:buChar char="•"/>
            </a:pPr>
            <a:r>
              <a:rPr lang="en" sz="2000" dirty="0"/>
              <a:t>Expanding DetectWatch to other critical domains (e.g., industrial safety).</a:t>
            </a:r>
            <a:endParaRPr sz="2000" dirty="0"/>
          </a:p>
          <a:p>
            <a:pPr>
              <a:lnSpc>
                <a:spcPct val="95000"/>
              </a:lnSpc>
              <a:buClr>
                <a:schemeClr val="dk1"/>
              </a:buClr>
              <a:buFont typeface="Arial" panose="020B0604020202020204" pitchFamily="34" charset="0"/>
              <a:buChar char="•"/>
            </a:pPr>
            <a:r>
              <a:rPr lang="en" sz="2000" dirty="0"/>
              <a:t>Exploring machine learning models for even more precise context recognition.</a:t>
            </a:r>
            <a:endParaRPr sz="2000" dirty="0"/>
          </a:p>
          <a:p>
            <a:pPr>
              <a:lnSpc>
                <a:spcPct val="95000"/>
              </a:lnSpc>
              <a:buClr>
                <a:schemeClr val="dk1"/>
              </a:buClr>
              <a:buFont typeface="Arial" panose="020B0604020202020204" pitchFamily="34" charset="0"/>
              <a:buChar char="•"/>
            </a:pPr>
            <a:r>
              <a:rPr lang="en" sz="2000" dirty="0"/>
              <a:t>Long-term field studies to assess sustained </a:t>
            </a:r>
            <a:r>
              <a:rPr lang="en" sz="2000"/>
              <a:t>impact.</a:t>
            </a:r>
            <a:endParaRPr sz="2000" dirty="0"/>
          </a:p>
        </p:txBody>
      </p:sp>
      <p:pic>
        <p:nvPicPr>
          <p:cNvPr id="3" name="그림 2">
            <a:extLst>
              <a:ext uri="{FF2B5EF4-FFF2-40B4-BE49-F238E27FC236}">
                <a16:creationId xmlns:a16="http://schemas.microsoft.com/office/drawing/2014/main" id="{4373EF5E-D2A3-B6E7-4000-653DE87B3C60}"/>
              </a:ext>
            </a:extLst>
          </p:cNvPr>
          <p:cNvPicPr>
            <a:picLocks noChangeAspect="1"/>
          </p:cNvPicPr>
          <p:nvPr/>
        </p:nvPicPr>
        <p:blipFill>
          <a:blip r:embed="rId3"/>
          <a:stretch>
            <a:fillRect/>
          </a:stretch>
        </p:blipFill>
        <p:spPr>
          <a:xfrm>
            <a:off x="7859078" y="1536191"/>
            <a:ext cx="3542044" cy="40667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924</Words>
  <Application>Microsoft Office PowerPoint</Application>
  <PresentationFormat>와이드스크린</PresentationFormat>
  <Paragraphs>53</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Aptos</vt:lpstr>
      <vt:lpstr>Aptos Display</vt:lpstr>
      <vt:lpstr>Arial</vt:lpstr>
      <vt:lpstr>Office Theme</vt:lpstr>
      <vt:lpstr>DetectWatch: Enhancing Situational Awareness and Interaction in Critical Contexts</vt:lpstr>
      <vt:lpstr>Motivation</vt:lpstr>
      <vt:lpstr>Previous Research</vt:lpstr>
      <vt:lpstr>Method: DetectWatch </vt:lpstr>
      <vt:lpstr>Demo</vt:lpstr>
      <vt:lpstr>Evaluation Study and Findings</vt:lpstr>
      <vt:lpstr>Conclusion and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Geonsun Lee</dc:creator>
  <cp:lastModifiedBy>Geonsun Lee</cp:lastModifiedBy>
  <cp:revision>18</cp:revision>
  <dcterms:created xsi:type="dcterms:W3CDTF">2024-07-25T16:29:20Z</dcterms:created>
  <dcterms:modified xsi:type="dcterms:W3CDTF">2024-08-14T19:57:08Z</dcterms:modified>
</cp:coreProperties>
</file>