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305" r:id="rId2"/>
    <p:sldId id="306" r:id="rId3"/>
    <p:sldId id="307" r:id="rId4"/>
    <p:sldId id="308" r:id="rId5"/>
    <p:sldId id="309" r:id="rId6"/>
    <p:sldId id="310" r:id="rId7"/>
    <p:sldId id="31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947"/>
    <p:restoredTop sz="75344" autoAdjust="0"/>
  </p:normalViewPr>
  <p:slideViewPr>
    <p:cSldViewPr snapToGrid="0">
      <p:cViewPr varScale="1">
        <p:scale>
          <a:sx n="71" d="100"/>
          <a:sy n="71" d="100"/>
        </p:scale>
        <p:origin x="54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936991-F18A-431E-874A-32071C410265}" type="datetimeFigureOut">
              <a:rPr lang="en-US" smtClean="0"/>
              <a:t>8/14/2024</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83FF17-98FF-4E23-8FD4-5D2184952243}" type="slidenum">
              <a:rPr lang="en-US" smtClean="0"/>
              <a:t>‹#›</a:t>
            </a:fld>
            <a:endParaRPr lang="en-US"/>
          </a:p>
        </p:txBody>
      </p:sp>
    </p:spTree>
    <p:extLst>
      <p:ext uri="{BB962C8B-B14F-4D97-AF65-F5344CB8AC3E}">
        <p14:creationId xmlns:p14="http://schemas.microsoft.com/office/powerpoint/2010/main" val="3886756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2f1a8aa1229_0_3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2f1a8aa1229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Good [morning/afternoon], everyone. Today, I’m excited to introduce the latest version of the aWatch—the most advanced smartwatch we've ever created. Designed to be the ultimate companion for health, fitness, and connectivity, this watch is not just an accessory; it’s a powerful tool that integrates seamlessly into your daily life."</a:t>
            </a:r>
            <a:endParaRPr dirty="0">
              <a:solidFill>
                <a:schemeClr val="dk1"/>
              </a:solidFill>
            </a:endParaRPr>
          </a:p>
          <a:p>
            <a:pPr marL="0" lvl="0" indent="0" algn="l" rtl="0">
              <a:spcBef>
                <a:spcPts val="1200"/>
              </a:spcBef>
              <a:spcAft>
                <a:spcPts val="0"/>
              </a:spcAft>
              <a:buNone/>
            </a:pPr>
            <a:endParaRPr b="1" dirty="0">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f1a8aa1229_0_3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2f1a8aa1229_0_3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dirty="0">
                <a:solidFill>
                  <a:schemeClr val="dk1"/>
                </a:solidFill>
              </a:rPr>
              <a:t>"Let’s start with the design. We introduce a stunning edge-to-edge display that’s larger than ever, providing more space to interact with your favorite apps and notifications. We’ve also introduced new materials and finishes, offering a range of styles to match your personal taste. And with customizable watch faces, you can truly make this watch your own."</a:t>
            </a:r>
            <a:endParaRPr dirty="0">
              <a:solidFill>
                <a:schemeClr val="dk1"/>
              </a:solidFill>
            </a:endParaRPr>
          </a:p>
          <a:p>
            <a:pPr marL="0" lvl="0" indent="0" algn="l" rtl="0">
              <a:lnSpc>
                <a:spcPct val="115000"/>
              </a:lnSpc>
              <a:spcBef>
                <a:spcPts val="1200"/>
              </a:spcBef>
              <a:spcAft>
                <a:spcPts val="1200"/>
              </a:spcAft>
              <a:buNone/>
            </a:pPr>
            <a:endParaRPr b="1" dirty="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2f1a8aa1229_0_3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2f1a8aa1229_0_3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dirty="0">
                <a:solidFill>
                  <a:schemeClr val="dk1"/>
                </a:solidFill>
              </a:rPr>
              <a:t>aWatch has always been at the forefront of health and wellness, and the latest version takes this even further. With enhanced heart rate monitoring, a blood oxygen sensor, and the ECG app, it’s like having a personal health monitor on your wrist. Plus, with irregular heart rhythm notifications, you can stay informed about your heart health and take proactive steps toward wellness."</a:t>
            </a:r>
            <a:endParaRPr dirty="0">
              <a:solidFill>
                <a:schemeClr val="dk1"/>
              </a:solidFill>
            </a:endParaRPr>
          </a:p>
          <a:p>
            <a:pPr marL="0" lvl="0" indent="0" algn="l" rtl="0">
              <a:lnSpc>
                <a:spcPct val="115000"/>
              </a:lnSpc>
              <a:spcBef>
                <a:spcPts val="1200"/>
              </a:spcBef>
              <a:spcAft>
                <a:spcPts val="1200"/>
              </a:spcAft>
              <a:buNone/>
            </a:pPr>
            <a:endParaRPr dirty="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2f1a8aa1229_0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2f1a8aa1229_0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solidFill>
                <a:schemeClr val="dk1"/>
              </a:solidFill>
            </a:endParaRPr>
          </a:p>
          <a:p>
            <a:pPr marL="0" lvl="0" indent="0" algn="l" rtl="0">
              <a:lnSpc>
                <a:spcPct val="115000"/>
              </a:lnSpc>
              <a:spcBef>
                <a:spcPts val="1200"/>
              </a:spcBef>
              <a:spcAft>
                <a:spcPts val="0"/>
              </a:spcAft>
              <a:buNone/>
            </a:pPr>
            <a:r>
              <a:rPr lang="en" dirty="0">
                <a:solidFill>
                  <a:schemeClr val="dk1"/>
                </a:solidFill>
              </a:rPr>
              <a:t>Whether you’re an athlete or just starting your fitness journey, the aWatch is designed to help you reach your goals. The latest version introduces new workout types and advanced metrics, including built-in GPS and an altimeter for tracking elevation. And with seamless integration with Apple Fitness+, you can access world-class workouts and personalized recommendations right from your wrist."</a:t>
            </a:r>
            <a:endParaRPr dirty="0">
              <a:solidFill>
                <a:schemeClr val="dk1"/>
              </a:solidFill>
            </a:endParaRPr>
          </a:p>
          <a:p>
            <a:pPr marL="0" lvl="0" indent="0" algn="l" rtl="0">
              <a:lnSpc>
                <a:spcPct val="115000"/>
              </a:lnSpc>
              <a:spcBef>
                <a:spcPts val="1200"/>
              </a:spcBef>
              <a:spcAft>
                <a:spcPts val="1200"/>
              </a:spcAft>
              <a:buNone/>
            </a:pPr>
            <a:endParaRPr dirty="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f1a8aa1229_0_4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f1a8aa1229_0_4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solidFill>
                <a:schemeClr val="dk1"/>
              </a:solidFill>
            </a:endParaRPr>
          </a:p>
          <a:p>
            <a:pPr marL="0" lvl="0" indent="0" algn="l" rtl="0">
              <a:lnSpc>
                <a:spcPct val="115000"/>
              </a:lnSpc>
              <a:spcBef>
                <a:spcPts val="1200"/>
              </a:spcBef>
              <a:spcAft>
                <a:spcPts val="0"/>
              </a:spcAft>
              <a:buNone/>
            </a:pPr>
            <a:r>
              <a:rPr lang="en" dirty="0">
                <a:solidFill>
                  <a:schemeClr val="dk1"/>
                </a:solidFill>
              </a:rPr>
              <a:t>aWatch is more than just a health and fitness tracker—it’s a powerful communication tool. With enhanced cellular connectivity, you can take calls, respond to messages, and use AI voice assistants, all without your smart phone nearby. Plus, it seamlessly integrates with all existing cross-device ecosystems, ensuring you stay productive and connected no matter where you are.</a:t>
            </a:r>
            <a:endParaRPr dirty="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f1a8aa1229_0_4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2f1a8aa1229_0_4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dirty="0">
                <a:solidFill>
                  <a:schemeClr val="dk1"/>
                </a:solidFill>
              </a:rPr>
              <a:t>"One of the most significant improvements in the latest aWatch is its battery life. With all-day battery life, you can stay powered throughout your day, from morning workouts to evening meetings. The watch also features faster processing speeds, ensuring smooth performance for all your tasks. And with new charging options, you can power up your watch quicker than ever."</a:t>
            </a:r>
            <a:endParaRPr dirty="0">
              <a:solidFill>
                <a:schemeClr val="dk1"/>
              </a:solidFill>
            </a:endParaRPr>
          </a:p>
          <a:p>
            <a:pPr marL="0" lvl="0" indent="0" algn="l" rtl="0">
              <a:lnSpc>
                <a:spcPct val="115000"/>
              </a:lnSpc>
              <a:spcBef>
                <a:spcPts val="1200"/>
              </a:spcBef>
              <a:spcAft>
                <a:spcPts val="0"/>
              </a:spcAft>
              <a:buNone/>
            </a:pPr>
            <a:endParaRPr dirty="0">
              <a:solidFill>
                <a:schemeClr val="dk1"/>
              </a:solidFill>
            </a:endParaRPr>
          </a:p>
          <a:p>
            <a:pPr marL="0" lvl="0" indent="0" algn="l" rtl="0">
              <a:lnSpc>
                <a:spcPct val="115000"/>
              </a:lnSpc>
              <a:spcBef>
                <a:spcPts val="1200"/>
              </a:spcBef>
              <a:spcAft>
                <a:spcPts val="0"/>
              </a:spcAft>
              <a:buNone/>
            </a:pPr>
            <a:endParaRPr sz="1300" b="1" dirty="0">
              <a:solidFill>
                <a:schemeClr val="dk1"/>
              </a:solidFill>
            </a:endParaRPr>
          </a:p>
          <a:p>
            <a:pPr marL="0" lvl="0" indent="0" algn="l" rtl="0">
              <a:lnSpc>
                <a:spcPct val="115000"/>
              </a:lnSpc>
              <a:spcBef>
                <a:spcPts val="1200"/>
              </a:spcBef>
              <a:spcAft>
                <a:spcPts val="1200"/>
              </a:spcAft>
              <a:buNone/>
            </a:pPr>
            <a:endParaRPr sz="1300" b="1" dirty="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2f1a8aa1229_0_4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2f1a8aa1229_0_4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solidFill>
                <a:schemeClr val="dk1"/>
              </a:solidFill>
            </a:endParaRPr>
          </a:p>
          <a:p>
            <a:pPr marL="0" lvl="0" indent="0" algn="l" rtl="0">
              <a:lnSpc>
                <a:spcPct val="115000"/>
              </a:lnSpc>
              <a:spcBef>
                <a:spcPts val="1200"/>
              </a:spcBef>
              <a:spcAft>
                <a:spcPts val="0"/>
              </a:spcAft>
              <a:buNone/>
            </a:pPr>
            <a:r>
              <a:rPr lang="en" dirty="0">
                <a:solidFill>
                  <a:schemeClr val="dk1"/>
                </a:solidFill>
              </a:rPr>
              <a:t>"In conclusion, the latest aWatch represents the perfect balance of design, functionality, and innovation. It’s the ideal device for anyone who wants to focus on their health, fitness, and staying connected. With this watch, you’re not just wearing a piece of technology; you’re embracing the future. The latest aWatch is available now—experience the future today. Thank you for your time, and I’m happy to answer any questions you may have."</a:t>
            </a:r>
            <a:endParaRPr dirty="0">
              <a:solidFill>
                <a:schemeClr val="dk1"/>
              </a:solidFill>
            </a:endParaRPr>
          </a:p>
          <a:p>
            <a:pPr marL="0" lvl="0" indent="0" algn="l" rtl="0">
              <a:lnSpc>
                <a:spcPct val="115000"/>
              </a:lnSpc>
              <a:spcBef>
                <a:spcPts val="1200"/>
              </a:spcBef>
              <a:spcAft>
                <a:spcPts val="1200"/>
              </a:spcAft>
              <a:buNone/>
            </a:pPr>
            <a:endParaRPr sz="1300" b="1" dirty="0">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7B8BB-22F7-66A3-02C2-184DB0F66F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08271E-D7BA-418B-C587-60A8CA19D0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43459D-3C8C-2578-81CF-581B7C9CE9B7}"/>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5" name="Footer Placeholder 4">
            <a:extLst>
              <a:ext uri="{FF2B5EF4-FFF2-40B4-BE49-F238E27FC236}">
                <a16:creationId xmlns:a16="http://schemas.microsoft.com/office/drawing/2014/main" id="{A9DDEB73-C1F3-BF2A-A942-77A8AF0242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1BBEA2-BDFF-C0ED-2073-BB79C7B57279}"/>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796683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E5E1D-936A-EC94-761E-DCC2BBAE41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033D4B-0C72-C2A6-516F-D01F64EE1C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D6258C-5119-C589-2761-F136FB6F2474}"/>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5" name="Footer Placeholder 4">
            <a:extLst>
              <a:ext uri="{FF2B5EF4-FFF2-40B4-BE49-F238E27FC236}">
                <a16:creationId xmlns:a16="http://schemas.microsoft.com/office/drawing/2014/main" id="{FA9FF4DC-7ECC-A78F-6C63-65DFC1B13E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5B64E6-3C3E-7D45-3548-F2BB67C4E2B1}"/>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130156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AED77-9E0C-3274-BB6A-B0902648A4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CE55B4-DBD7-843D-FC4D-D46C9B1193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CE2400-14E9-B848-741F-EA0C41580D44}"/>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5" name="Footer Placeholder 4">
            <a:extLst>
              <a:ext uri="{FF2B5EF4-FFF2-40B4-BE49-F238E27FC236}">
                <a16:creationId xmlns:a16="http://schemas.microsoft.com/office/drawing/2014/main" id="{19D13E98-C1E6-E82F-A79F-43DBA03E87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C03BA6-4058-1AFC-7AD3-151B83A1D8A5}"/>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4251874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0F56D-8ACA-6A2B-89D1-447C4C1D4E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A17329-21B4-C24C-408D-AA0CC3E2B8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1F5AB0-28E9-95C4-1A7A-EFC94199D2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914C90-72C1-CC26-6CF3-E662A812A57A}"/>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6" name="Footer Placeholder 5">
            <a:extLst>
              <a:ext uri="{FF2B5EF4-FFF2-40B4-BE49-F238E27FC236}">
                <a16:creationId xmlns:a16="http://schemas.microsoft.com/office/drawing/2014/main" id="{F369BCD8-DE0A-429B-D1FA-C36D98B313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53A60C-DE95-5A7E-C9CB-9108A04CB079}"/>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81829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30482-2FA6-08A1-0434-EF9AFFF328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2F5730-409F-397F-14BC-7885C8CA1D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D40483-CB20-0D07-A125-D1A13232E4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D2A00C-5D2E-AE35-BE43-E649F6CFF3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48B914-C84D-07FA-5E92-38B71C3937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075F3D-1F38-0F58-7EC4-72734815E0E9}"/>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8" name="Footer Placeholder 7">
            <a:extLst>
              <a:ext uri="{FF2B5EF4-FFF2-40B4-BE49-F238E27FC236}">
                <a16:creationId xmlns:a16="http://schemas.microsoft.com/office/drawing/2014/main" id="{83D2CD82-6C0B-C8F4-622D-8F90A4C53A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3102EA-1CBA-EE0B-1133-E1CE34085CAD}"/>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092255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AD8F0-1D77-A6AD-1A81-8BEF0593CD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320025-F050-8AEC-474E-8CA7BF0A16A7}"/>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4" name="Footer Placeholder 3">
            <a:extLst>
              <a:ext uri="{FF2B5EF4-FFF2-40B4-BE49-F238E27FC236}">
                <a16:creationId xmlns:a16="http://schemas.microsoft.com/office/drawing/2014/main" id="{BB342B21-4A39-A96A-4EDA-9E33CCEFB0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A23578-8303-F3B9-84AE-7373E4F1FBC5}"/>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990531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F7A46C-8D23-AF98-C358-52F3DA72A29D}"/>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3" name="Footer Placeholder 2">
            <a:extLst>
              <a:ext uri="{FF2B5EF4-FFF2-40B4-BE49-F238E27FC236}">
                <a16:creationId xmlns:a16="http://schemas.microsoft.com/office/drawing/2014/main" id="{9F80BBA7-4421-7026-38B6-E942C7AF63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EB5B50-572E-2292-9C29-6B8F0DEA773D}"/>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1610219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49C9-C176-5853-4C90-97EF743302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4C5B3D-A20C-BA62-C999-9DDAA152A7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DE16B0-3DC0-80E3-E01E-E5F7D66733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6C1BBE-3030-C625-F529-6E8479FE3C00}"/>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6" name="Footer Placeholder 5">
            <a:extLst>
              <a:ext uri="{FF2B5EF4-FFF2-40B4-BE49-F238E27FC236}">
                <a16:creationId xmlns:a16="http://schemas.microsoft.com/office/drawing/2014/main" id="{A1C51720-0357-CD3E-7948-70941414D7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1CEEA3-2A87-F504-D1F2-22A919BD7340}"/>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34926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A5239-9E2A-A1CA-6BEC-842F949D1B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1F02C3-B907-2E2B-2E47-D9A5A8BE45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3F00C6-17AF-5436-917B-AE4FFC500B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9DE7EA-4ABF-AEC6-F79C-F69D691DCD89}"/>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6" name="Footer Placeholder 5">
            <a:extLst>
              <a:ext uri="{FF2B5EF4-FFF2-40B4-BE49-F238E27FC236}">
                <a16:creationId xmlns:a16="http://schemas.microsoft.com/office/drawing/2014/main" id="{01F6B7D0-B4EF-EA56-E0B9-82EA44BBDB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9B10DE-6DD0-20A1-9A00-3138711F9FFB}"/>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2086753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A96E5-FE18-2477-DB09-2037D393A7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CFFD40-A702-54DA-45D9-29E45043A1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87847D-2A6E-D983-98F8-E48472C948D6}"/>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5" name="Footer Placeholder 4">
            <a:extLst>
              <a:ext uri="{FF2B5EF4-FFF2-40B4-BE49-F238E27FC236}">
                <a16:creationId xmlns:a16="http://schemas.microsoft.com/office/drawing/2014/main" id="{3C1414EF-324D-2208-9012-0C77C19C3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C8AA4-BB89-0AD3-1D9B-FD4789FAC068}"/>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425927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BF5E5A-00CC-8C5F-D367-CA2332A41E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9DBB4FD-4400-7FAA-4F30-7EA76758F1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95387A-20C4-F2B9-16B2-150827C722D8}"/>
              </a:ext>
            </a:extLst>
          </p:cNvPr>
          <p:cNvSpPr>
            <a:spLocks noGrp="1"/>
          </p:cNvSpPr>
          <p:nvPr>
            <p:ph type="dt" sz="half" idx="10"/>
          </p:nvPr>
        </p:nvSpPr>
        <p:spPr/>
        <p:txBody>
          <a:bodyPr/>
          <a:lstStyle/>
          <a:p>
            <a:fld id="{6F8FDC3A-7BD9-9842-A0FF-9D652E2379CC}" type="datetimeFigureOut">
              <a:rPr lang="en-US" smtClean="0"/>
              <a:t>8/14/2024</a:t>
            </a:fld>
            <a:endParaRPr lang="en-US"/>
          </a:p>
        </p:txBody>
      </p:sp>
      <p:sp>
        <p:nvSpPr>
          <p:cNvPr id="5" name="Footer Placeholder 4">
            <a:extLst>
              <a:ext uri="{FF2B5EF4-FFF2-40B4-BE49-F238E27FC236}">
                <a16:creationId xmlns:a16="http://schemas.microsoft.com/office/drawing/2014/main" id="{D3209152-62FD-C0D7-1BA7-8793A30937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1E20D-61EC-F993-D14C-44B9B9B0245D}"/>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991624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32615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4BBCFF-611C-BA18-CB37-92FF96D8C4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EF4D33-0533-C581-0D33-5AA309BFEF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2C5FD4-9D91-E604-17DE-4F89368AEA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8FDC3A-7BD9-9842-A0FF-9D652E2379CC}" type="datetimeFigureOut">
              <a:rPr lang="en-US" smtClean="0"/>
              <a:t>8/14/2024</a:t>
            </a:fld>
            <a:endParaRPr lang="en-US"/>
          </a:p>
        </p:txBody>
      </p:sp>
      <p:sp>
        <p:nvSpPr>
          <p:cNvPr id="5" name="Footer Placeholder 4">
            <a:extLst>
              <a:ext uri="{FF2B5EF4-FFF2-40B4-BE49-F238E27FC236}">
                <a16:creationId xmlns:a16="http://schemas.microsoft.com/office/drawing/2014/main" id="{2E56EDFA-4069-A972-F652-8B70677D3A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F2E8FF2-FD96-54EF-BFFA-1A9E84C8F1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E27035-7CE7-1747-9EC1-B22839B31021}" type="slidenum">
              <a:rPr lang="en-US" smtClean="0"/>
              <a:t>‹#›</a:t>
            </a:fld>
            <a:endParaRPr lang="en-US"/>
          </a:p>
        </p:txBody>
      </p:sp>
    </p:spTree>
    <p:extLst>
      <p:ext uri="{BB962C8B-B14F-4D97-AF65-F5344CB8AC3E}">
        <p14:creationId xmlns:p14="http://schemas.microsoft.com/office/powerpoint/2010/main" val="1805982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62"/>
          <p:cNvSpPr/>
          <p:nvPr/>
        </p:nvSpPr>
        <p:spPr>
          <a:xfrm>
            <a:off x="0" y="0"/>
            <a:ext cx="12192000" cy="6971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396" name="Google Shape;396;p62"/>
          <p:cNvSpPr txBox="1">
            <a:spLocks noGrp="1"/>
          </p:cNvSpPr>
          <p:nvPr>
            <p:ph type="subTitle" idx="1"/>
          </p:nvPr>
        </p:nvSpPr>
        <p:spPr>
          <a:xfrm>
            <a:off x="415600" y="3778833"/>
            <a:ext cx="11360800" cy="1056800"/>
          </a:xfrm>
          <a:prstGeom prst="rect">
            <a:avLst/>
          </a:prstGeom>
        </p:spPr>
        <p:txBody>
          <a:bodyPr spcFirstLastPara="1" vert="horz" wrap="square" lIns="121900" tIns="121900" rIns="121900" bIns="121900" rtlCol="0" anchor="t" anchorCtr="0">
            <a:normAutofit/>
          </a:bodyPr>
          <a:lstStyle/>
          <a:p>
            <a:pPr>
              <a:spcBef>
                <a:spcPts val="0"/>
              </a:spcBef>
            </a:pPr>
            <a:r>
              <a:rPr lang="en"/>
              <a:t>Your Name, Conference</a:t>
            </a:r>
            <a:endParaRPr/>
          </a:p>
        </p:txBody>
      </p:sp>
      <p:pic>
        <p:nvPicPr>
          <p:cNvPr id="397" name="Google Shape;397;p62"/>
          <p:cNvPicPr preferRelativeResize="0"/>
          <p:nvPr/>
        </p:nvPicPr>
        <p:blipFill>
          <a:blip r:embed="rId3">
            <a:alphaModFix/>
          </a:blip>
          <a:stretch>
            <a:fillRect/>
          </a:stretch>
        </p:blipFill>
        <p:spPr>
          <a:xfrm>
            <a:off x="40800" y="0"/>
            <a:ext cx="12191997" cy="7006496"/>
          </a:xfrm>
          <a:prstGeom prst="rect">
            <a:avLst/>
          </a:prstGeom>
          <a:noFill/>
          <a:ln>
            <a:noFill/>
          </a:ln>
        </p:spPr>
      </p:pic>
      <p:sp>
        <p:nvSpPr>
          <p:cNvPr id="398" name="Google Shape;398;p62"/>
          <p:cNvSpPr txBox="1">
            <a:spLocks noGrp="1"/>
          </p:cNvSpPr>
          <p:nvPr>
            <p:ph type="ctrTitle"/>
          </p:nvPr>
        </p:nvSpPr>
        <p:spPr>
          <a:xfrm>
            <a:off x="1572200" y="1327800"/>
            <a:ext cx="9387600" cy="1706000"/>
          </a:xfrm>
          <a:prstGeom prst="rect">
            <a:avLst/>
          </a:prstGeom>
          <a:solidFill>
            <a:schemeClr val="lt1"/>
          </a:solidFill>
        </p:spPr>
        <p:txBody>
          <a:bodyPr spcFirstLastPara="1" vert="horz" wrap="square" lIns="121900" tIns="121900" rIns="121900" bIns="121900" rtlCol="0" anchor="b" anchorCtr="0">
            <a:noAutofit/>
          </a:bodyPr>
          <a:lstStyle/>
          <a:p>
            <a:pPr>
              <a:spcBef>
                <a:spcPts val="0"/>
              </a:spcBef>
              <a:buSzPts val="1100"/>
            </a:pPr>
            <a:r>
              <a:rPr lang="en" sz="5040"/>
              <a:t> Introducing the Latest aWatch: Innovation on Your Wrist</a:t>
            </a:r>
            <a:endParaRPr sz="504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3"/>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Design and Display</a:t>
            </a:r>
            <a:endParaRPr/>
          </a:p>
        </p:txBody>
      </p:sp>
      <p:sp>
        <p:nvSpPr>
          <p:cNvPr id="404" name="Google Shape;404;p63"/>
          <p:cNvSpPr txBox="1">
            <a:spLocks noGrp="1"/>
          </p:cNvSpPr>
          <p:nvPr>
            <p:ph type="body" idx="1"/>
          </p:nvPr>
        </p:nvSpPr>
        <p:spPr>
          <a:xfrm>
            <a:off x="415599" y="1536633"/>
            <a:ext cx="6394775" cy="4555200"/>
          </a:xfrm>
          <a:prstGeom prst="rect">
            <a:avLst/>
          </a:prstGeom>
        </p:spPr>
        <p:txBody>
          <a:bodyPr spcFirstLastPara="1" vert="horz" wrap="square" lIns="121900" tIns="121900" rIns="121900" bIns="121900" rtlCol="0" anchor="t" anchorCtr="0">
            <a:normAutofit/>
          </a:bodyPr>
          <a:lstStyle/>
          <a:p>
            <a:pPr>
              <a:lnSpc>
                <a:spcPct val="100000"/>
              </a:lnSpc>
              <a:spcBef>
                <a:spcPts val="1600"/>
              </a:spcBef>
              <a:buFont typeface="Arial" panose="020B0604020202020204" pitchFamily="34" charset="0"/>
              <a:buChar char="•"/>
            </a:pPr>
            <a:r>
              <a:rPr lang="en" dirty="0"/>
              <a:t>Larger, edge-to-edge display</a:t>
            </a:r>
            <a:endParaRPr dirty="0"/>
          </a:p>
          <a:p>
            <a:pPr lvl="1">
              <a:lnSpc>
                <a:spcPct val="100000"/>
              </a:lnSpc>
              <a:buFont typeface="Arial" panose="020B0604020202020204" pitchFamily="34" charset="0"/>
              <a:buChar char="•"/>
            </a:pPr>
            <a:r>
              <a:rPr lang="en" dirty="0"/>
              <a:t>More space to interact with apps and notifications</a:t>
            </a:r>
            <a:endParaRPr dirty="0"/>
          </a:p>
          <a:p>
            <a:pPr>
              <a:lnSpc>
                <a:spcPct val="100000"/>
              </a:lnSpc>
              <a:buFont typeface="Arial" panose="020B0604020202020204" pitchFamily="34" charset="0"/>
              <a:buChar char="•"/>
            </a:pPr>
            <a:r>
              <a:rPr lang="en" dirty="0"/>
              <a:t>New materials and finishes</a:t>
            </a:r>
            <a:endParaRPr dirty="0"/>
          </a:p>
          <a:p>
            <a:pPr lvl="1">
              <a:lnSpc>
                <a:spcPct val="100000"/>
              </a:lnSpc>
              <a:buFont typeface="Arial" panose="020B0604020202020204" pitchFamily="34" charset="0"/>
              <a:buChar char="•"/>
            </a:pPr>
            <a:r>
              <a:rPr lang="en" dirty="0"/>
              <a:t>A range of styles to match your personal taste</a:t>
            </a:r>
            <a:endParaRPr dirty="0"/>
          </a:p>
          <a:p>
            <a:pPr>
              <a:lnSpc>
                <a:spcPct val="100000"/>
              </a:lnSpc>
              <a:buFont typeface="Arial" panose="020B0604020202020204" pitchFamily="34" charset="0"/>
              <a:buChar char="•"/>
            </a:pPr>
            <a:r>
              <a:rPr lang="en" dirty="0"/>
              <a:t>Customizable watch faces</a:t>
            </a:r>
            <a:endParaRPr dirty="0"/>
          </a:p>
          <a:p>
            <a:pPr lvl="1">
              <a:lnSpc>
                <a:spcPct val="100000"/>
              </a:lnSpc>
              <a:buFont typeface="Arial" panose="020B0604020202020204" pitchFamily="34" charset="0"/>
              <a:buChar char="•"/>
            </a:pPr>
            <a:r>
              <a:rPr lang="en" dirty="0"/>
              <a:t>Truly make this watch your own</a:t>
            </a:r>
            <a:endParaRPr dirty="0"/>
          </a:p>
        </p:txBody>
      </p:sp>
      <p:pic>
        <p:nvPicPr>
          <p:cNvPr id="405" name="Google Shape;405;p63"/>
          <p:cNvPicPr preferRelativeResize="0"/>
          <p:nvPr/>
        </p:nvPicPr>
        <p:blipFill rotWithShape="1">
          <a:blip r:embed="rId3">
            <a:alphaModFix/>
          </a:blip>
          <a:srcRect l="17060"/>
          <a:stretch/>
        </p:blipFill>
        <p:spPr>
          <a:xfrm>
            <a:off x="7049852" y="1457325"/>
            <a:ext cx="5909659" cy="409469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pic>
        <p:nvPicPr>
          <p:cNvPr id="410" name="Google Shape;410;p64"/>
          <p:cNvPicPr preferRelativeResize="0"/>
          <p:nvPr/>
        </p:nvPicPr>
        <p:blipFill>
          <a:blip r:embed="rId3">
            <a:alphaModFix/>
          </a:blip>
          <a:stretch>
            <a:fillRect/>
          </a:stretch>
        </p:blipFill>
        <p:spPr>
          <a:xfrm>
            <a:off x="1" y="0"/>
            <a:ext cx="12676103" cy="7284699"/>
          </a:xfrm>
          <a:prstGeom prst="rect">
            <a:avLst/>
          </a:prstGeom>
          <a:noFill/>
          <a:ln>
            <a:noFill/>
          </a:ln>
        </p:spPr>
      </p:pic>
      <p:sp>
        <p:nvSpPr>
          <p:cNvPr id="411" name="Google Shape;411;p64"/>
          <p:cNvSpPr txBox="1">
            <a:spLocks noGrp="1"/>
          </p:cNvSpPr>
          <p:nvPr>
            <p:ph type="title"/>
          </p:nvPr>
        </p:nvSpPr>
        <p:spPr>
          <a:xfrm>
            <a:off x="1171575" y="230500"/>
            <a:ext cx="9991726" cy="1293500"/>
          </a:xfrm>
          <a:prstGeom prst="rect">
            <a:avLst/>
          </a:prstGeom>
          <a:solidFill>
            <a:schemeClr val="lt1"/>
          </a:solidFill>
        </p:spPr>
        <p:txBody>
          <a:bodyPr spcFirstLastPara="1" vert="horz" wrap="square" lIns="121900" tIns="121900" rIns="121900" bIns="121900" rtlCol="0" anchor="t" anchorCtr="0">
            <a:noAutofit/>
          </a:bodyPr>
          <a:lstStyle/>
          <a:p>
            <a:pPr algn="ctr"/>
            <a:r>
              <a:rPr lang="en" sz="3600" dirty="0"/>
              <a:t>Your Health, Our Priority:</a:t>
            </a:r>
            <a:br>
              <a:rPr lang="en" sz="3600" dirty="0"/>
            </a:br>
            <a:r>
              <a:rPr lang="en" sz="3600" dirty="0"/>
              <a:t> Advanced Health Monitoring</a:t>
            </a:r>
            <a:endParaRPr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65"/>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Autofit/>
          </a:bodyPr>
          <a:lstStyle/>
          <a:p>
            <a:r>
              <a:rPr lang="en" sz="3600" dirty="0"/>
              <a:t>Elevate Your Fitness: Comprehensive Activity Tracking</a:t>
            </a:r>
            <a:endParaRPr sz="3600" dirty="0"/>
          </a:p>
          <a:p>
            <a:endParaRPr sz="3600" dirty="0"/>
          </a:p>
          <a:p>
            <a:endParaRPr sz="3600" dirty="0"/>
          </a:p>
          <a:p>
            <a:endParaRPr sz="3600" dirty="0"/>
          </a:p>
          <a:p>
            <a:endParaRPr sz="3600" dirty="0"/>
          </a:p>
        </p:txBody>
      </p:sp>
      <p:sp>
        <p:nvSpPr>
          <p:cNvPr id="417" name="Google Shape;417;p65"/>
          <p:cNvSpPr txBox="1">
            <a:spLocks noGrp="1"/>
          </p:cNvSpPr>
          <p:nvPr>
            <p:ph type="body" idx="1"/>
          </p:nvPr>
        </p:nvSpPr>
        <p:spPr>
          <a:xfrm>
            <a:off x="415600" y="1536633"/>
            <a:ext cx="5529200" cy="4555200"/>
          </a:xfrm>
          <a:prstGeom prst="rect">
            <a:avLst/>
          </a:prstGeom>
        </p:spPr>
        <p:txBody>
          <a:bodyPr spcFirstLastPara="1" vert="horz" wrap="square" lIns="121900" tIns="121900" rIns="121900" bIns="121900" rtlCol="0" anchor="t" anchorCtr="0">
            <a:normAutofit/>
          </a:bodyPr>
          <a:lstStyle/>
          <a:p>
            <a:pPr>
              <a:lnSpc>
                <a:spcPct val="100000"/>
              </a:lnSpc>
              <a:spcBef>
                <a:spcPts val="1600"/>
              </a:spcBef>
              <a:buFont typeface="Arial" panose="020B0604020202020204" pitchFamily="34" charset="0"/>
              <a:buChar char="•"/>
            </a:pPr>
            <a:r>
              <a:rPr lang="en" dirty="0"/>
              <a:t>New workout types and advanced metrics</a:t>
            </a:r>
            <a:endParaRPr dirty="0"/>
          </a:p>
          <a:p>
            <a:pPr>
              <a:lnSpc>
                <a:spcPct val="100000"/>
              </a:lnSpc>
              <a:buFont typeface="Arial" panose="020B0604020202020204" pitchFamily="34" charset="0"/>
              <a:buChar char="•"/>
            </a:pPr>
            <a:r>
              <a:rPr lang="en" dirty="0"/>
              <a:t>Built-in GPS and altimeter</a:t>
            </a:r>
            <a:endParaRPr dirty="0"/>
          </a:p>
          <a:p>
            <a:pPr>
              <a:lnSpc>
                <a:spcPct val="100000"/>
              </a:lnSpc>
              <a:buFont typeface="Arial" panose="020B0604020202020204" pitchFamily="34" charset="0"/>
              <a:buChar char="•"/>
            </a:pPr>
            <a:r>
              <a:rPr lang="en" dirty="0"/>
              <a:t>Fitness+ integration</a:t>
            </a:r>
            <a:endParaRPr dirty="0"/>
          </a:p>
        </p:txBody>
      </p:sp>
      <p:pic>
        <p:nvPicPr>
          <p:cNvPr id="418" name="Google Shape;418;p65"/>
          <p:cNvPicPr preferRelativeResize="0"/>
          <p:nvPr/>
        </p:nvPicPr>
        <p:blipFill rotWithShape="1">
          <a:blip r:embed="rId3">
            <a:alphaModFix/>
          </a:blip>
          <a:srcRect l="10610"/>
          <a:stretch/>
        </p:blipFill>
        <p:spPr>
          <a:xfrm>
            <a:off x="5724525" y="1745526"/>
            <a:ext cx="6123572" cy="393673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pic>
        <p:nvPicPr>
          <p:cNvPr id="3" name="그림 2" descr="시계, 손목시계, 스크린샷이(가) 표시된 사진&#10;&#10;자동 생성된 설명">
            <a:extLst>
              <a:ext uri="{FF2B5EF4-FFF2-40B4-BE49-F238E27FC236}">
                <a16:creationId xmlns:a16="http://schemas.microsoft.com/office/drawing/2014/main" id="{5DF05652-9060-97DA-4D9E-2E89B5B85553}"/>
              </a:ext>
            </a:extLst>
          </p:cNvPr>
          <p:cNvPicPr>
            <a:picLocks noChangeAspect="1"/>
          </p:cNvPicPr>
          <p:nvPr/>
        </p:nvPicPr>
        <p:blipFill>
          <a:blip r:embed="rId3"/>
          <a:stretch>
            <a:fillRect/>
          </a:stretch>
        </p:blipFill>
        <p:spPr>
          <a:xfrm>
            <a:off x="-1115948" y="0"/>
            <a:ext cx="13843694" cy="7800388"/>
          </a:xfrm>
          <a:prstGeom prst="rect">
            <a:avLst/>
          </a:prstGeom>
        </p:spPr>
      </p:pic>
      <p:sp>
        <p:nvSpPr>
          <p:cNvPr id="425" name="Google Shape;425;p66"/>
          <p:cNvSpPr txBox="1">
            <a:spLocks noGrp="1"/>
          </p:cNvSpPr>
          <p:nvPr>
            <p:ph type="title"/>
          </p:nvPr>
        </p:nvSpPr>
        <p:spPr>
          <a:xfrm>
            <a:off x="415600" y="247650"/>
            <a:ext cx="11360800" cy="1085850"/>
          </a:xfrm>
          <a:prstGeom prst="rect">
            <a:avLst/>
          </a:prstGeom>
          <a:solidFill>
            <a:schemeClr val="lt1"/>
          </a:solidFill>
        </p:spPr>
        <p:txBody>
          <a:bodyPr spcFirstLastPara="1" vert="horz" wrap="square" lIns="121900" tIns="121900" rIns="121900" bIns="121900" rtlCol="0" anchor="ctr" anchorCtr="0">
            <a:normAutofit/>
          </a:bodyPr>
          <a:lstStyle/>
          <a:p>
            <a:pPr algn="ctr"/>
            <a:r>
              <a:rPr lang="en" sz="3600" dirty="0"/>
              <a:t>Stay Connected, Stay Productive: All From Your Wrist</a:t>
            </a:r>
            <a:endParaRPr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67"/>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Battery Life and Performance</a:t>
            </a:r>
            <a:endParaRPr/>
          </a:p>
        </p:txBody>
      </p:sp>
      <p:sp>
        <p:nvSpPr>
          <p:cNvPr id="432" name="Google Shape;432;p67"/>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a:lnSpc>
                <a:spcPct val="100000"/>
              </a:lnSpc>
              <a:spcBef>
                <a:spcPts val="1600"/>
              </a:spcBef>
              <a:buFont typeface="Arial" panose="020B0604020202020204" pitchFamily="34" charset="0"/>
              <a:buChar char="•"/>
            </a:pPr>
            <a:r>
              <a:rPr lang="en" sz="3200" dirty="0"/>
              <a:t>All-day battery life</a:t>
            </a:r>
            <a:endParaRPr sz="3200" dirty="0"/>
          </a:p>
          <a:p>
            <a:pPr lvl="1">
              <a:lnSpc>
                <a:spcPct val="100000"/>
              </a:lnSpc>
              <a:buFont typeface="Arial" panose="020B0604020202020204" pitchFamily="34" charset="0"/>
              <a:buChar char="•"/>
            </a:pPr>
            <a:r>
              <a:rPr lang="en" sz="2800" dirty="0"/>
              <a:t>Stay powered throughout your day!</a:t>
            </a:r>
            <a:endParaRPr sz="2800" dirty="0"/>
          </a:p>
          <a:p>
            <a:pPr>
              <a:lnSpc>
                <a:spcPct val="100000"/>
              </a:lnSpc>
              <a:buFont typeface="Arial" panose="020B0604020202020204" pitchFamily="34" charset="0"/>
              <a:buChar char="•"/>
            </a:pPr>
            <a:r>
              <a:rPr lang="en" sz="3200" dirty="0"/>
              <a:t>Faster processing speeds</a:t>
            </a:r>
            <a:endParaRPr sz="3200" dirty="0"/>
          </a:p>
          <a:p>
            <a:pPr lvl="1">
              <a:lnSpc>
                <a:spcPct val="100000"/>
              </a:lnSpc>
              <a:buFont typeface="Arial" panose="020B0604020202020204" pitchFamily="34" charset="0"/>
              <a:buChar char="•"/>
            </a:pPr>
            <a:r>
              <a:rPr lang="en" sz="2800" dirty="0"/>
              <a:t>Smooth performance for all your tasks</a:t>
            </a:r>
            <a:endParaRPr sz="2800" dirty="0"/>
          </a:p>
          <a:p>
            <a:pPr>
              <a:lnSpc>
                <a:spcPct val="100000"/>
              </a:lnSpc>
              <a:buFont typeface="Arial" panose="020B0604020202020204" pitchFamily="34" charset="0"/>
              <a:buChar char="•"/>
            </a:pPr>
            <a:r>
              <a:rPr lang="en" sz="3200" dirty="0"/>
              <a:t>New charging options</a:t>
            </a:r>
            <a:endParaRPr sz="3200" dirty="0"/>
          </a:p>
          <a:p>
            <a:pPr lvl="1">
              <a:lnSpc>
                <a:spcPct val="100000"/>
              </a:lnSpc>
              <a:buFont typeface="Arial" panose="020B0604020202020204" pitchFamily="34" charset="0"/>
              <a:buChar char="•"/>
            </a:pPr>
            <a:r>
              <a:rPr lang="en" sz="2800" dirty="0"/>
              <a:t>Power up quicker than ever</a:t>
            </a:r>
            <a:endParaRPr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68"/>
          <p:cNvSpPr txBox="1">
            <a:spLocks noGrp="1"/>
          </p:cNvSpPr>
          <p:nvPr>
            <p:ph type="title"/>
          </p:nvPr>
        </p:nvSpPr>
        <p:spPr>
          <a:xfrm>
            <a:off x="415600" y="593367"/>
            <a:ext cx="11360800" cy="1321158"/>
          </a:xfrm>
          <a:prstGeom prst="rect">
            <a:avLst/>
          </a:prstGeom>
        </p:spPr>
        <p:txBody>
          <a:bodyPr spcFirstLastPara="1" vert="horz" wrap="square" lIns="121900" tIns="121900" rIns="121900" bIns="121900" rtlCol="0" anchor="t" anchorCtr="0">
            <a:noAutofit/>
          </a:bodyPr>
          <a:lstStyle/>
          <a:p>
            <a:r>
              <a:rPr lang="en" sz="3600" dirty="0"/>
              <a:t>The Future on Your Wrist: </a:t>
            </a:r>
            <a:br>
              <a:rPr lang="en" sz="3600" dirty="0"/>
            </a:br>
            <a:r>
              <a:rPr lang="en" sz="3600" dirty="0"/>
              <a:t>Why the Latest aWatch is a Must-Have</a:t>
            </a:r>
            <a:endParaRPr sz="3600" dirty="0"/>
          </a:p>
        </p:txBody>
      </p:sp>
      <p:sp>
        <p:nvSpPr>
          <p:cNvPr id="438" name="Google Shape;438;p68"/>
          <p:cNvSpPr txBox="1">
            <a:spLocks noGrp="1"/>
          </p:cNvSpPr>
          <p:nvPr>
            <p:ph type="body" idx="1"/>
          </p:nvPr>
        </p:nvSpPr>
        <p:spPr>
          <a:xfrm>
            <a:off x="415600" y="2114549"/>
            <a:ext cx="10332400" cy="3977283"/>
          </a:xfrm>
          <a:prstGeom prst="rect">
            <a:avLst/>
          </a:prstGeom>
        </p:spPr>
        <p:txBody>
          <a:bodyPr spcFirstLastPara="1" vert="horz" wrap="square" lIns="121900" tIns="121900" rIns="121900" bIns="121900" rtlCol="0" anchor="t" anchorCtr="0">
            <a:normAutofit/>
          </a:bodyPr>
          <a:lstStyle/>
          <a:p>
            <a:pPr>
              <a:lnSpc>
                <a:spcPct val="100000"/>
              </a:lnSpc>
              <a:spcBef>
                <a:spcPts val="1600"/>
              </a:spcBef>
              <a:buFont typeface="Arial" panose="020B0604020202020204" pitchFamily="34" charset="0"/>
              <a:buChar char="•"/>
            </a:pPr>
            <a:r>
              <a:rPr lang="en" dirty="0"/>
              <a:t>Perfect balance of design, functionality, and innovation</a:t>
            </a:r>
            <a:endParaRPr dirty="0"/>
          </a:p>
          <a:p>
            <a:pPr>
              <a:lnSpc>
                <a:spcPct val="100000"/>
              </a:lnSpc>
              <a:buFont typeface="Arial" panose="020B0604020202020204" pitchFamily="34" charset="0"/>
              <a:buChar char="•"/>
            </a:pPr>
            <a:r>
              <a:rPr lang="en" dirty="0"/>
              <a:t>Ideal for anyone focused on health, fitness, and staying connected</a:t>
            </a:r>
            <a:endParaRPr dirty="0"/>
          </a:p>
          <a:p>
            <a:pPr>
              <a:lnSpc>
                <a:spcPct val="100000"/>
              </a:lnSpc>
              <a:buFont typeface="Arial" panose="020B0604020202020204" pitchFamily="34" charset="0"/>
              <a:buChar char="•"/>
            </a:pPr>
            <a:r>
              <a:rPr lang="en" dirty="0"/>
              <a:t>Available now—experience the future today</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647</Words>
  <Application>Microsoft Office PowerPoint</Application>
  <PresentationFormat>와이드스크린</PresentationFormat>
  <Paragraphs>39</Paragraphs>
  <Slides>7</Slides>
  <Notes>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Aptos</vt:lpstr>
      <vt:lpstr>Aptos Display</vt:lpstr>
      <vt:lpstr>Arial</vt:lpstr>
      <vt:lpstr>Office Theme</vt:lpstr>
      <vt:lpstr> Introducing the Latest aWatch: Innovation on Your Wrist</vt:lpstr>
      <vt:lpstr>Design and Display</vt:lpstr>
      <vt:lpstr>Your Health, Our Priority:  Advanced Health Monitoring</vt:lpstr>
      <vt:lpstr>Elevate Your Fitness: Comprehensive Activity Tracking    </vt:lpstr>
      <vt:lpstr>Stay Connected, Stay Productive: All From Your Wrist</vt:lpstr>
      <vt:lpstr>Battery Life and Performance</vt:lpstr>
      <vt:lpstr>The Future on Your Wrist:  Why the Latest aWatch is a Must-Have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Geonsun Lee</dc:creator>
  <cp:lastModifiedBy>Geonsun Lee</cp:lastModifiedBy>
  <cp:revision>22</cp:revision>
  <dcterms:created xsi:type="dcterms:W3CDTF">2024-07-25T16:29:20Z</dcterms:created>
  <dcterms:modified xsi:type="dcterms:W3CDTF">2024-08-14T19:59:00Z</dcterms:modified>
</cp:coreProperties>
</file>