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82" r:id="rId2"/>
    <p:sldId id="283" r:id="rId3"/>
    <p:sldId id="289" r:id="rId4"/>
    <p:sldId id="290" r:id="rId5"/>
    <p:sldId id="286" r:id="rId6"/>
    <p:sldId id="287" r:id="rId7"/>
    <p:sldId id="28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947"/>
    <p:restoredTop sz="71330" autoAdjust="0"/>
  </p:normalViewPr>
  <p:slideViewPr>
    <p:cSldViewPr snapToGrid="0">
      <p:cViewPr varScale="1">
        <p:scale>
          <a:sx n="67" d="100"/>
          <a:sy n="67" d="100"/>
        </p:scale>
        <p:origin x="571"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EA826A-7B44-4EAE-AF92-29E77ACA9378}" type="datetimeFigureOut">
              <a:rPr lang="en-US" smtClean="0"/>
              <a:t>8/13/2024</a:t>
            </a:fld>
            <a:endParaRPr 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8E4A95-9FAB-4743-BD44-FAFE334E5C0F}" type="slidenum">
              <a:rPr lang="en-US" smtClean="0"/>
              <a:t>‹#›</a:t>
            </a:fld>
            <a:endParaRPr lang="en-US"/>
          </a:p>
        </p:txBody>
      </p:sp>
    </p:spTree>
    <p:extLst>
      <p:ext uri="{BB962C8B-B14F-4D97-AF65-F5344CB8AC3E}">
        <p14:creationId xmlns:p14="http://schemas.microsoft.com/office/powerpoint/2010/main" val="195106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f1a8aa1229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2f1a8aa1229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Good evening, everyone! Today, I'll be guiding you through the process of installing Fusion 360, a powerful CAD software, and demonstrating how to create a simple 3D model of a cube. This presentation is perfect for beginners, and by the end, you'll have a solid foundation to start exploring Fusion 360 further.</a:t>
            </a:r>
            <a:endParaRPr dirty="0">
              <a:solidFill>
                <a:schemeClr val="dk1"/>
              </a:solidFill>
            </a:endParaRPr>
          </a:p>
          <a:p>
            <a:pPr marL="0" lvl="0" indent="0" algn="l" rtl="0">
              <a:spcBef>
                <a:spcPts val="120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f1a8aa1229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2f1a8aa1229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15950" lvl="1" indent="0" algn="l" rtl="0">
              <a:lnSpc>
                <a:spcPct val="115000"/>
              </a:lnSpc>
              <a:spcBef>
                <a:spcPts val="1200"/>
              </a:spcBef>
              <a:spcAft>
                <a:spcPts val="0"/>
              </a:spcAft>
              <a:buClr>
                <a:schemeClr val="dk1"/>
              </a:buClr>
              <a:buSzPts val="1100"/>
              <a:buNone/>
            </a:pPr>
            <a:r>
              <a:rPr lang="en" dirty="0">
                <a:solidFill>
                  <a:schemeClr val="dk1"/>
                </a:solidFill>
              </a:rPr>
              <a:t>Fusion 360 is a cloud-based 3D CAD, CAM, and CAE tool that brings together industrial and mechanical design, simulation, collaboration, and machining in a single package. It’s widely used in various industries, from product design to manufacturing. Before we dive into the installation, it's important to ensure your system meets the necessary requirements, including a compatible operating system, enough RAM, and sufficient graphics capabilities.</a:t>
            </a:r>
            <a:endParaRPr dirty="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f1a8aa1229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2f1a8aa1229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Slide 5: Creating a New Project and Workspace Setup</a:t>
            </a:r>
            <a:endParaRPr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dirty="0">
                <a:solidFill>
                  <a:schemeClr val="dk1"/>
                </a:solidFill>
              </a:rPr>
              <a:t>Bullet Points</a:t>
            </a:r>
            <a:r>
              <a:rPr lang="en" dirty="0">
                <a:solidFill>
                  <a:schemeClr val="dk1"/>
                </a:solidFill>
              </a:rPr>
              <a:t>:</a:t>
            </a:r>
            <a:endParaRPr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dirty="0">
                <a:solidFill>
                  <a:schemeClr val="dk1"/>
                </a:solidFill>
              </a:rPr>
              <a:t>Launch Fusion 360</a:t>
            </a:r>
            <a:endParaRPr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dirty="0">
                <a:solidFill>
                  <a:schemeClr val="dk1"/>
                </a:solidFill>
              </a:rPr>
              <a:t>Create a new project</a:t>
            </a:r>
            <a:endParaRPr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dirty="0">
                <a:solidFill>
                  <a:schemeClr val="dk1"/>
                </a:solidFill>
              </a:rPr>
              <a:t>Set up the workspace</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Script</a:t>
            </a:r>
            <a:r>
              <a:rPr lang="en" dirty="0">
                <a:solidFill>
                  <a:schemeClr val="dk1"/>
                </a:solidFill>
              </a:rPr>
              <a:t>: "Now that Fusion 360 is installed, let's start by launching the software. The first thing you'll do is create a new project to organize your designs. Once the project is created, you'll be directed to the workspace. Here, you can set up your environment by choosing the right units and views that best suit your needs for creating models."</a:t>
            </a:r>
            <a:endParaRPr dirty="0">
              <a:solidFill>
                <a:schemeClr val="dk1"/>
              </a:solidFill>
            </a:endParaRPr>
          </a:p>
          <a:p>
            <a:pPr marL="0" lvl="0" indent="0" algn="l" rtl="0">
              <a:lnSpc>
                <a:spcPct val="115000"/>
              </a:lnSpc>
              <a:spcBef>
                <a:spcPts val="1200"/>
              </a:spcBef>
              <a:spcAft>
                <a:spcPts val="1200"/>
              </a:spcAft>
              <a:buClr>
                <a:schemeClr val="dk1"/>
              </a:buClr>
              <a:buSzPts val="1100"/>
              <a:buFont typeface="Arial"/>
              <a:buNone/>
            </a:pPr>
            <a:endParaRPr b="1" dirty="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f1a8aa1229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2f1a8aa1229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Slide 6: Building a Simple Cube Model</a:t>
            </a:r>
            <a:endParaRPr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dirty="0">
                <a:solidFill>
                  <a:schemeClr val="dk1"/>
                </a:solidFill>
              </a:rPr>
              <a:t>Bullet Points</a:t>
            </a:r>
            <a:r>
              <a:rPr lang="en" dirty="0">
                <a:solidFill>
                  <a:schemeClr val="dk1"/>
                </a:solidFill>
              </a:rPr>
              <a:t>:</a:t>
            </a:r>
            <a:endParaRPr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dirty="0">
                <a:solidFill>
                  <a:schemeClr val="dk1"/>
                </a:solidFill>
              </a:rPr>
              <a:t>Create a new sketch</a:t>
            </a:r>
            <a:endParaRPr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dirty="0">
                <a:solidFill>
                  <a:schemeClr val="dk1"/>
                </a:solidFill>
              </a:rPr>
              <a:t>Draw a square on the XY plane</a:t>
            </a:r>
            <a:endParaRPr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dirty="0">
                <a:solidFill>
                  <a:schemeClr val="dk1"/>
                </a:solidFill>
              </a:rPr>
              <a:t>Extrude the square to create a cube</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Script</a:t>
            </a:r>
            <a:r>
              <a:rPr lang="en" dirty="0">
                <a:solidFill>
                  <a:schemeClr val="dk1"/>
                </a:solidFill>
              </a:rPr>
              <a:t>: "With the workspace ready, we can now create our first 3D model—a simple cube. Begin by creating a new sketch on the XY plane. Use the rectangle tool to draw a square, ensuring all sides are equal. Next, finish the sketch and use the 'Extrude' tool to pull the square into the third dimension, forming a cube. This is your first 3D model in Fusion 360!"</a:t>
            </a:r>
            <a:endParaRPr dirty="0">
              <a:solidFill>
                <a:schemeClr val="dk1"/>
              </a:solidFill>
            </a:endParaRPr>
          </a:p>
          <a:p>
            <a:pPr marL="0" lvl="0" indent="0" algn="l" rtl="0">
              <a:spcBef>
                <a:spcPts val="1200"/>
              </a:spcBef>
              <a:spcAft>
                <a:spcPts val="0"/>
              </a:spcAft>
              <a:buNone/>
            </a:pPr>
            <a:endParaRPr b="1" dirty="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f1a8aa1229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f1a8aa1229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Slide 7: Conclusion and Next Steps</a:t>
            </a:r>
            <a:endParaRPr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dirty="0">
                <a:solidFill>
                  <a:schemeClr val="dk1"/>
                </a:solidFill>
              </a:rPr>
              <a:t>Bullet Points</a:t>
            </a:r>
            <a:r>
              <a:rPr lang="en" dirty="0">
                <a:solidFill>
                  <a:schemeClr val="dk1"/>
                </a:solidFill>
              </a:rPr>
              <a:t>:</a:t>
            </a:r>
            <a:endParaRPr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dirty="0">
                <a:solidFill>
                  <a:schemeClr val="dk1"/>
                </a:solidFill>
              </a:rPr>
              <a:t>Recap of the installation process</a:t>
            </a:r>
            <a:endParaRPr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dirty="0">
                <a:solidFill>
                  <a:schemeClr val="dk1"/>
                </a:solidFill>
              </a:rPr>
              <a:t>Recap of building the cube</a:t>
            </a:r>
            <a:endParaRPr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dirty="0">
                <a:solidFill>
                  <a:schemeClr val="dk1"/>
                </a:solidFill>
              </a:rPr>
              <a:t>Encouragement to explore further features</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Script</a:t>
            </a:r>
            <a:r>
              <a:rPr lang="en" dirty="0">
                <a:solidFill>
                  <a:schemeClr val="dk1"/>
                </a:solidFill>
              </a:rPr>
              <a:t>: "In summary, we’ve covered the installation of Fusion 360 and walked through the creation of a simple 3D cube model. This is just the beginning. Fusion 360 offers a wide range of tools and features that allow you to design complex models, simulate their behavior, and even prepare them for manufacturing. I encourage you to explore these features and start creating more advanced models as you become more comfortable with the software. Thank you for your attention, and I'm happy to answer any questions you might have."</a:t>
            </a:r>
            <a:endParaRPr b="1" dirty="0">
              <a:solidFill>
                <a:schemeClr val="dk1"/>
              </a:solidFill>
            </a:endParaRPr>
          </a:p>
          <a:p>
            <a:pPr marL="0" lvl="0" indent="0" algn="l" rtl="0">
              <a:spcBef>
                <a:spcPts val="1200"/>
              </a:spcBef>
              <a:spcAft>
                <a:spcPts val="0"/>
              </a:spcAft>
              <a:buNone/>
            </a:pPr>
            <a:endParaRPr b="1" dirty="0">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7B8BB-22F7-66A3-02C2-184DB0F66F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108271E-D7BA-418B-C587-60A8CA19D0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43459D-3C8C-2578-81CF-581B7C9CE9B7}"/>
              </a:ext>
            </a:extLst>
          </p:cNvPr>
          <p:cNvSpPr>
            <a:spLocks noGrp="1"/>
          </p:cNvSpPr>
          <p:nvPr>
            <p:ph type="dt" sz="half" idx="10"/>
          </p:nvPr>
        </p:nvSpPr>
        <p:spPr/>
        <p:txBody>
          <a:bodyPr/>
          <a:lstStyle/>
          <a:p>
            <a:fld id="{6F8FDC3A-7BD9-9842-A0FF-9D652E2379CC}" type="datetimeFigureOut">
              <a:rPr lang="en-US" smtClean="0"/>
              <a:t>8/13/2024</a:t>
            </a:fld>
            <a:endParaRPr lang="en-US"/>
          </a:p>
        </p:txBody>
      </p:sp>
      <p:sp>
        <p:nvSpPr>
          <p:cNvPr id="5" name="Footer Placeholder 4">
            <a:extLst>
              <a:ext uri="{FF2B5EF4-FFF2-40B4-BE49-F238E27FC236}">
                <a16:creationId xmlns:a16="http://schemas.microsoft.com/office/drawing/2014/main" id="{A9DDEB73-C1F3-BF2A-A942-77A8AF0242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1BBEA2-BDFF-C0ED-2073-BB79C7B57279}"/>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796683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E5E1D-936A-EC94-761E-DCC2BBAE41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033D4B-0C72-C2A6-516F-D01F64EE1C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D6258C-5119-C589-2761-F136FB6F2474}"/>
              </a:ext>
            </a:extLst>
          </p:cNvPr>
          <p:cNvSpPr>
            <a:spLocks noGrp="1"/>
          </p:cNvSpPr>
          <p:nvPr>
            <p:ph type="dt" sz="half" idx="10"/>
          </p:nvPr>
        </p:nvSpPr>
        <p:spPr/>
        <p:txBody>
          <a:bodyPr/>
          <a:lstStyle/>
          <a:p>
            <a:fld id="{6F8FDC3A-7BD9-9842-A0FF-9D652E2379CC}" type="datetimeFigureOut">
              <a:rPr lang="en-US" smtClean="0"/>
              <a:t>8/13/2024</a:t>
            </a:fld>
            <a:endParaRPr lang="en-US"/>
          </a:p>
        </p:txBody>
      </p:sp>
      <p:sp>
        <p:nvSpPr>
          <p:cNvPr id="5" name="Footer Placeholder 4">
            <a:extLst>
              <a:ext uri="{FF2B5EF4-FFF2-40B4-BE49-F238E27FC236}">
                <a16:creationId xmlns:a16="http://schemas.microsoft.com/office/drawing/2014/main" id="{FA9FF4DC-7ECC-A78F-6C63-65DFC1B13E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5B64E6-3C3E-7D45-3548-F2BB67C4E2B1}"/>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130156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AED77-9E0C-3274-BB6A-B0902648A4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CE55B4-DBD7-843D-FC4D-D46C9B11930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CE2400-14E9-B848-741F-EA0C41580D44}"/>
              </a:ext>
            </a:extLst>
          </p:cNvPr>
          <p:cNvSpPr>
            <a:spLocks noGrp="1"/>
          </p:cNvSpPr>
          <p:nvPr>
            <p:ph type="dt" sz="half" idx="10"/>
          </p:nvPr>
        </p:nvSpPr>
        <p:spPr/>
        <p:txBody>
          <a:bodyPr/>
          <a:lstStyle/>
          <a:p>
            <a:fld id="{6F8FDC3A-7BD9-9842-A0FF-9D652E2379CC}" type="datetimeFigureOut">
              <a:rPr lang="en-US" smtClean="0"/>
              <a:t>8/13/2024</a:t>
            </a:fld>
            <a:endParaRPr lang="en-US"/>
          </a:p>
        </p:txBody>
      </p:sp>
      <p:sp>
        <p:nvSpPr>
          <p:cNvPr id="5" name="Footer Placeholder 4">
            <a:extLst>
              <a:ext uri="{FF2B5EF4-FFF2-40B4-BE49-F238E27FC236}">
                <a16:creationId xmlns:a16="http://schemas.microsoft.com/office/drawing/2014/main" id="{19D13E98-C1E6-E82F-A79F-43DBA03E87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C03BA6-4058-1AFC-7AD3-151B83A1D8A5}"/>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4251874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0F56D-8ACA-6A2B-89D1-447C4C1D4E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A17329-21B4-C24C-408D-AA0CC3E2B8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1F5AB0-28E9-95C4-1A7A-EFC94199D2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914C90-72C1-CC26-6CF3-E662A812A57A}"/>
              </a:ext>
            </a:extLst>
          </p:cNvPr>
          <p:cNvSpPr>
            <a:spLocks noGrp="1"/>
          </p:cNvSpPr>
          <p:nvPr>
            <p:ph type="dt" sz="half" idx="10"/>
          </p:nvPr>
        </p:nvSpPr>
        <p:spPr/>
        <p:txBody>
          <a:bodyPr/>
          <a:lstStyle/>
          <a:p>
            <a:fld id="{6F8FDC3A-7BD9-9842-A0FF-9D652E2379CC}" type="datetimeFigureOut">
              <a:rPr lang="en-US" smtClean="0"/>
              <a:t>8/13/2024</a:t>
            </a:fld>
            <a:endParaRPr lang="en-US"/>
          </a:p>
        </p:txBody>
      </p:sp>
      <p:sp>
        <p:nvSpPr>
          <p:cNvPr id="6" name="Footer Placeholder 5">
            <a:extLst>
              <a:ext uri="{FF2B5EF4-FFF2-40B4-BE49-F238E27FC236}">
                <a16:creationId xmlns:a16="http://schemas.microsoft.com/office/drawing/2014/main" id="{F369BCD8-DE0A-429B-D1FA-C36D98B313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53A60C-DE95-5A7E-C9CB-9108A04CB079}"/>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81829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30482-2FA6-08A1-0434-EF9AFFF328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2F5730-409F-397F-14BC-7885C8CA1D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D40483-CB20-0D07-A125-D1A13232E4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D2A00C-5D2E-AE35-BE43-E649F6CFF3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48B914-C84D-07FA-5E92-38B71C3937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075F3D-1F38-0F58-7EC4-72734815E0E9}"/>
              </a:ext>
            </a:extLst>
          </p:cNvPr>
          <p:cNvSpPr>
            <a:spLocks noGrp="1"/>
          </p:cNvSpPr>
          <p:nvPr>
            <p:ph type="dt" sz="half" idx="10"/>
          </p:nvPr>
        </p:nvSpPr>
        <p:spPr/>
        <p:txBody>
          <a:bodyPr/>
          <a:lstStyle/>
          <a:p>
            <a:fld id="{6F8FDC3A-7BD9-9842-A0FF-9D652E2379CC}" type="datetimeFigureOut">
              <a:rPr lang="en-US" smtClean="0"/>
              <a:t>8/13/2024</a:t>
            </a:fld>
            <a:endParaRPr lang="en-US"/>
          </a:p>
        </p:txBody>
      </p:sp>
      <p:sp>
        <p:nvSpPr>
          <p:cNvPr id="8" name="Footer Placeholder 7">
            <a:extLst>
              <a:ext uri="{FF2B5EF4-FFF2-40B4-BE49-F238E27FC236}">
                <a16:creationId xmlns:a16="http://schemas.microsoft.com/office/drawing/2014/main" id="{83D2CD82-6C0B-C8F4-622D-8F90A4C53A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3102EA-1CBA-EE0B-1133-E1CE34085CAD}"/>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092255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AD8F0-1D77-A6AD-1A81-8BEF0593CD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320025-F050-8AEC-474E-8CA7BF0A16A7}"/>
              </a:ext>
            </a:extLst>
          </p:cNvPr>
          <p:cNvSpPr>
            <a:spLocks noGrp="1"/>
          </p:cNvSpPr>
          <p:nvPr>
            <p:ph type="dt" sz="half" idx="10"/>
          </p:nvPr>
        </p:nvSpPr>
        <p:spPr/>
        <p:txBody>
          <a:bodyPr/>
          <a:lstStyle/>
          <a:p>
            <a:fld id="{6F8FDC3A-7BD9-9842-A0FF-9D652E2379CC}" type="datetimeFigureOut">
              <a:rPr lang="en-US" smtClean="0"/>
              <a:t>8/13/2024</a:t>
            </a:fld>
            <a:endParaRPr lang="en-US"/>
          </a:p>
        </p:txBody>
      </p:sp>
      <p:sp>
        <p:nvSpPr>
          <p:cNvPr id="4" name="Footer Placeholder 3">
            <a:extLst>
              <a:ext uri="{FF2B5EF4-FFF2-40B4-BE49-F238E27FC236}">
                <a16:creationId xmlns:a16="http://schemas.microsoft.com/office/drawing/2014/main" id="{BB342B21-4A39-A96A-4EDA-9E33CCEFB0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A23578-8303-F3B9-84AE-7373E4F1FBC5}"/>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990531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F7A46C-8D23-AF98-C358-52F3DA72A29D}"/>
              </a:ext>
            </a:extLst>
          </p:cNvPr>
          <p:cNvSpPr>
            <a:spLocks noGrp="1"/>
          </p:cNvSpPr>
          <p:nvPr>
            <p:ph type="dt" sz="half" idx="10"/>
          </p:nvPr>
        </p:nvSpPr>
        <p:spPr/>
        <p:txBody>
          <a:bodyPr/>
          <a:lstStyle/>
          <a:p>
            <a:fld id="{6F8FDC3A-7BD9-9842-A0FF-9D652E2379CC}" type="datetimeFigureOut">
              <a:rPr lang="en-US" smtClean="0"/>
              <a:t>8/13/2024</a:t>
            </a:fld>
            <a:endParaRPr lang="en-US"/>
          </a:p>
        </p:txBody>
      </p:sp>
      <p:sp>
        <p:nvSpPr>
          <p:cNvPr id="3" name="Footer Placeholder 2">
            <a:extLst>
              <a:ext uri="{FF2B5EF4-FFF2-40B4-BE49-F238E27FC236}">
                <a16:creationId xmlns:a16="http://schemas.microsoft.com/office/drawing/2014/main" id="{9F80BBA7-4421-7026-38B6-E942C7AF63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3EB5B50-572E-2292-9C29-6B8F0DEA773D}"/>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1610219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C49C9-C176-5853-4C90-97EF743302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14C5B3D-A20C-BA62-C999-9DDAA152A7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DE16B0-3DC0-80E3-E01E-E5F7D66733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6C1BBE-3030-C625-F529-6E8479FE3C00}"/>
              </a:ext>
            </a:extLst>
          </p:cNvPr>
          <p:cNvSpPr>
            <a:spLocks noGrp="1"/>
          </p:cNvSpPr>
          <p:nvPr>
            <p:ph type="dt" sz="half" idx="10"/>
          </p:nvPr>
        </p:nvSpPr>
        <p:spPr/>
        <p:txBody>
          <a:bodyPr/>
          <a:lstStyle/>
          <a:p>
            <a:fld id="{6F8FDC3A-7BD9-9842-A0FF-9D652E2379CC}" type="datetimeFigureOut">
              <a:rPr lang="en-US" smtClean="0"/>
              <a:t>8/13/2024</a:t>
            </a:fld>
            <a:endParaRPr lang="en-US"/>
          </a:p>
        </p:txBody>
      </p:sp>
      <p:sp>
        <p:nvSpPr>
          <p:cNvPr id="6" name="Footer Placeholder 5">
            <a:extLst>
              <a:ext uri="{FF2B5EF4-FFF2-40B4-BE49-F238E27FC236}">
                <a16:creationId xmlns:a16="http://schemas.microsoft.com/office/drawing/2014/main" id="{A1C51720-0357-CD3E-7948-70941414D7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1CEEA3-2A87-F504-D1F2-22A919BD7340}"/>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34926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A5239-9E2A-A1CA-6BEC-842F949D1B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1F02C3-B907-2E2B-2E47-D9A5A8BE45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3F00C6-17AF-5436-917B-AE4FFC500B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9DE7EA-4ABF-AEC6-F79C-F69D691DCD89}"/>
              </a:ext>
            </a:extLst>
          </p:cNvPr>
          <p:cNvSpPr>
            <a:spLocks noGrp="1"/>
          </p:cNvSpPr>
          <p:nvPr>
            <p:ph type="dt" sz="half" idx="10"/>
          </p:nvPr>
        </p:nvSpPr>
        <p:spPr/>
        <p:txBody>
          <a:bodyPr/>
          <a:lstStyle/>
          <a:p>
            <a:fld id="{6F8FDC3A-7BD9-9842-A0FF-9D652E2379CC}" type="datetimeFigureOut">
              <a:rPr lang="en-US" smtClean="0"/>
              <a:t>8/13/2024</a:t>
            </a:fld>
            <a:endParaRPr lang="en-US"/>
          </a:p>
        </p:txBody>
      </p:sp>
      <p:sp>
        <p:nvSpPr>
          <p:cNvPr id="6" name="Footer Placeholder 5">
            <a:extLst>
              <a:ext uri="{FF2B5EF4-FFF2-40B4-BE49-F238E27FC236}">
                <a16:creationId xmlns:a16="http://schemas.microsoft.com/office/drawing/2014/main" id="{01F6B7D0-B4EF-EA56-E0B9-82EA44BBDB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9B10DE-6DD0-20A1-9A00-3138711F9FFB}"/>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2086753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A96E5-FE18-2477-DB09-2037D393A7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CFFD40-A702-54DA-45D9-29E45043A1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87847D-2A6E-D983-98F8-E48472C948D6}"/>
              </a:ext>
            </a:extLst>
          </p:cNvPr>
          <p:cNvSpPr>
            <a:spLocks noGrp="1"/>
          </p:cNvSpPr>
          <p:nvPr>
            <p:ph type="dt" sz="half" idx="10"/>
          </p:nvPr>
        </p:nvSpPr>
        <p:spPr/>
        <p:txBody>
          <a:bodyPr/>
          <a:lstStyle/>
          <a:p>
            <a:fld id="{6F8FDC3A-7BD9-9842-A0FF-9D652E2379CC}" type="datetimeFigureOut">
              <a:rPr lang="en-US" smtClean="0"/>
              <a:t>8/13/2024</a:t>
            </a:fld>
            <a:endParaRPr lang="en-US"/>
          </a:p>
        </p:txBody>
      </p:sp>
      <p:sp>
        <p:nvSpPr>
          <p:cNvPr id="5" name="Footer Placeholder 4">
            <a:extLst>
              <a:ext uri="{FF2B5EF4-FFF2-40B4-BE49-F238E27FC236}">
                <a16:creationId xmlns:a16="http://schemas.microsoft.com/office/drawing/2014/main" id="{3C1414EF-324D-2208-9012-0C77C19C3D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9C8AA4-BB89-0AD3-1D9B-FD4789FAC068}"/>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425927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BF5E5A-00CC-8C5F-D367-CA2332A41E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9DBB4FD-4400-7FAA-4F30-7EA76758F1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95387A-20C4-F2B9-16B2-150827C722D8}"/>
              </a:ext>
            </a:extLst>
          </p:cNvPr>
          <p:cNvSpPr>
            <a:spLocks noGrp="1"/>
          </p:cNvSpPr>
          <p:nvPr>
            <p:ph type="dt" sz="half" idx="10"/>
          </p:nvPr>
        </p:nvSpPr>
        <p:spPr/>
        <p:txBody>
          <a:bodyPr/>
          <a:lstStyle/>
          <a:p>
            <a:fld id="{6F8FDC3A-7BD9-9842-A0FF-9D652E2379CC}" type="datetimeFigureOut">
              <a:rPr lang="en-US" smtClean="0"/>
              <a:t>8/13/2024</a:t>
            </a:fld>
            <a:endParaRPr lang="en-US"/>
          </a:p>
        </p:txBody>
      </p:sp>
      <p:sp>
        <p:nvSpPr>
          <p:cNvPr id="5" name="Footer Placeholder 4">
            <a:extLst>
              <a:ext uri="{FF2B5EF4-FFF2-40B4-BE49-F238E27FC236}">
                <a16:creationId xmlns:a16="http://schemas.microsoft.com/office/drawing/2014/main" id="{D3209152-62FD-C0D7-1BA7-8793A30937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1E20D-61EC-F993-D14C-44B9B9B0245D}"/>
              </a:ext>
            </a:extLst>
          </p:cNvPr>
          <p:cNvSpPr>
            <a:spLocks noGrp="1"/>
          </p:cNvSpPr>
          <p:nvPr>
            <p:ph type="sldNum" sz="quarter" idx="12"/>
          </p:nvPr>
        </p:nvSpPr>
        <p:spPr/>
        <p:txBody>
          <a:bodyPr/>
          <a:lstStyle/>
          <a:p>
            <a:fld id="{86E27035-7CE7-1747-9EC1-B22839B31021}" type="slidenum">
              <a:rPr lang="en-US" smtClean="0"/>
              <a:t>‹#›</a:t>
            </a:fld>
            <a:endParaRPr lang="en-US"/>
          </a:p>
        </p:txBody>
      </p:sp>
    </p:spTree>
    <p:extLst>
      <p:ext uri="{BB962C8B-B14F-4D97-AF65-F5344CB8AC3E}">
        <p14:creationId xmlns:p14="http://schemas.microsoft.com/office/powerpoint/2010/main" val="3991624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43019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4BBCFF-611C-BA18-CB37-92FF96D8C4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EF4D33-0533-C581-0D33-5AA309BFEF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2C5FD4-9D91-E604-17DE-4F89368AEA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8FDC3A-7BD9-9842-A0FF-9D652E2379CC}" type="datetimeFigureOut">
              <a:rPr lang="en-US" smtClean="0"/>
              <a:t>8/13/2024</a:t>
            </a:fld>
            <a:endParaRPr lang="en-US"/>
          </a:p>
        </p:txBody>
      </p:sp>
      <p:sp>
        <p:nvSpPr>
          <p:cNvPr id="5" name="Footer Placeholder 4">
            <a:extLst>
              <a:ext uri="{FF2B5EF4-FFF2-40B4-BE49-F238E27FC236}">
                <a16:creationId xmlns:a16="http://schemas.microsoft.com/office/drawing/2014/main" id="{2E56EDFA-4069-A972-F652-8B70677D3A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F2E8FF2-FD96-54EF-BFFA-1A9E84C8F1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6E27035-7CE7-1747-9EC1-B22839B31021}" type="slidenum">
              <a:rPr lang="en-US" smtClean="0"/>
              <a:t>‹#›</a:t>
            </a:fld>
            <a:endParaRPr lang="en-US"/>
          </a:p>
        </p:txBody>
      </p:sp>
    </p:spTree>
    <p:extLst>
      <p:ext uri="{BB962C8B-B14F-4D97-AF65-F5344CB8AC3E}">
        <p14:creationId xmlns:p14="http://schemas.microsoft.com/office/powerpoint/2010/main" val="18059824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pic>
        <p:nvPicPr>
          <p:cNvPr id="231" name="Google Shape;231;p39" title="3D Design by fusion 360 | Kenming Wang | Flickr"/>
          <p:cNvPicPr preferRelativeResize="0"/>
          <p:nvPr/>
        </p:nvPicPr>
        <p:blipFill>
          <a:blip r:embed="rId3">
            <a:alphaModFix/>
          </a:blip>
          <a:stretch>
            <a:fillRect/>
          </a:stretch>
        </p:blipFill>
        <p:spPr>
          <a:xfrm>
            <a:off x="-181732" y="1"/>
            <a:ext cx="12476368" cy="8333833"/>
          </a:xfrm>
          <a:prstGeom prst="rect">
            <a:avLst/>
          </a:prstGeom>
          <a:noFill/>
          <a:ln>
            <a:noFill/>
          </a:ln>
        </p:spPr>
      </p:pic>
      <p:sp>
        <p:nvSpPr>
          <p:cNvPr id="232" name="Google Shape;232;p39"/>
          <p:cNvSpPr txBox="1">
            <a:spLocks noGrp="1"/>
          </p:cNvSpPr>
          <p:nvPr>
            <p:ph type="ctrTitle"/>
          </p:nvPr>
        </p:nvSpPr>
        <p:spPr>
          <a:xfrm>
            <a:off x="1572200" y="575193"/>
            <a:ext cx="9047600" cy="1747600"/>
          </a:xfrm>
          <a:prstGeom prst="rect">
            <a:avLst/>
          </a:prstGeom>
          <a:solidFill>
            <a:schemeClr val="lt1"/>
          </a:solidFill>
        </p:spPr>
        <p:txBody>
          <a:bodyPr spcFirstLastPara="1" vert="horz" wrap="square" lIns="121900" tIns="121900" rIns="121900" bIns="121900" rtlCol="0" anchor="b" anchorCtr="0">
            <a:noAutofit/>
          </a:bodyPr>
          <a:lstStyle/>
          <a:p>
            <a:pPr>
              <a:spcBef>
                <a:spcPts val="0"/>
              </a:spcBef>
              <a:buSzPts val="1100"/>
            </a:pPr>
            <a:r>
              <a:rPr lang="en" sz="5040" dirty="0"/>
              <a:t>Installing Fusion 360 and </a:t>
            </a:r>
            <a:br>
              <a:rPr lang="en" sz="5040" dirty="0"/>
            </a:br>
            <a:r>
              <a:rPr lang="en" sz="5040" dirty="0"/>
              <a:t>Building a Simple Cube</a:t>
            </a:r>
            <a:endParaRPr sz="50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0"/>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Introduction to Fusion 360</a:t>
            </a:r>
            <a:endParaRPr/>
          </a:p>
          <a:p>
            <a:endParaRPr/>
          </a:p>
          <a:p>
            <a:pPr>
              <a:buClr>
                <a:schemeClr val="dk1"/>
              </a:buClr>
              <a:buSzPct val="39285"/>
            </a:pPr>
            <a:endParaRPr/>
          </a:p>
          <a:p>
            <a:pPr>
              <a:buClr>
                <a:schemeClr val="dk1"/>
              </a:buClr>
              <a:buSzPct val="39285"/>
            </a:pPr>
            <a:endParaRPr/>
          </a:p>
          <a:p>
            <a:endParaRPr/>
          </a:p>
        </p:txBody>
      </p:sp>
      <p:sp>
        <p:nvSpPr>
          <p:cNvPr id="238" name="Google Shape;238;p40"/>
          <p:cNvSpPr txBox="1">
            <a:spLocks noGrp="1"/>
          </p:cNvSpPr>
          <p:nvPr>
            <p:ph type="body" idx="1"/>
          </p:nvPr>
        </p:nvSpPr>
        <p:spPr>
          <a:xfrm>
            <a:off x="526000" y="1698267"/>
            <a:ext cx="5234720" cy="4555200"/>
          </a:xfrm>
          <a:prstGeom prst="rect">
            <a:avLst/>
          </a:prstGeom>
        </p:spPr>
        <p:txBody>
          <a:bodyPr spcFirstLastPara="1" vert="horz" wrap="square" lIns="121900" tIns="121900" rIns="121900" bIns="121900" rtlCol="0" anchor="t" anchorCtr="0">
            <a:noAutofit/>
          </a:bodyPr>
          <a:lstStyle/>
          <a:p>
            <a:pPr>
              <a:lnSpc>
                <a:spcPct val="100000"/>
              </a:lnSpc>
              <a:buFont typeface="Arial" panose="020B0604020202020204" pitchFamily="34" charset="0"/>
              <a:buChar char="•"/>
            </a:pPr>
            <a:r>
              <a:rPr lang="en" sz="2400" dirty="0"/>
              <a:t>What is Fusion 360?</a:t>
            </a:r>
            <a:endParaRPr sz="2400" dirty="0"/>
          </a:p>
          <a:p>
            <a:pPr lvl="1">
              <a:lnSpc>
                <a:spcPct val="100000"/>
              </a:lnSpc>
              <a:buFont typeface="Arial" panose="020B0604020202020204" pitchFamily="34" charset="0"/>
              <a:buChar char="•"/>
            </a:pPr>
            <a:r>
              <a:rPr lang="en" sz="2000" dirty="0">
                <a:solidFill>
                  <a:schemeClr val="dk1"/>
                </a:solidFill>
              </a:rPr>
              <a:t>Cloud-based 3D CAD, CAM, and CAE tool</a:t>
            </a:r>
            <a:endParaRPr sz="2000" dirty="0"/>
          </a:p>
          <a:p>
            <a:pPr>
              <a:lnSpc>
                <a:spcPct val="100000"/>
              </a:lnSpc>
              <a:buFont typeface="Arial" panose="020B0604020202020204" pitchFamily="34" charset="0"/>
              <a:buChar char="•"/>
            </a:pPr>
            <a:r>
              <a:rPr lang="en" sz="2400" dirty="0"/>
              <a:t>Key features and uses</a:t>
            </a:r>
            <a:endParaRPr sz="2400" dirty="0"/>
          </a:p>
          <a:p>
            <a:pPr lvl="1">
              <a:lnSpc>
                <a:spcPct val="100000"/>
              </a:lnSpc>
              <a:buFont typeface="Arial" panose="020B0604020202020204" pitchFamily="34" charset="0"/>
              <a:buChar char="•"/>
            </a:pPr>
            <a:r>
              <a:rPr lang="en" sz="2000" dirty="0">
                <a:solidFill>
                  <a:schemeClr val="dk1"/>
                </a:solidFill>
              </a:rPr>
              <a:t>Industrial and mechanical design</a:t>
            </a:r>
          </a:p>
          <a:p>
            <a:pPr lvl="1">
              <a:lnSpc>
                <a:spcPct val="100000"/>
              </a:lnSpc>
              <a:buFont typeface="Arial" panose="020B0604020202020204" pitchFamily="34" charset="0"/>
              <a:buChar char="•"/>
            </a:pPr>
            <a:r>
              <a:rPr lang="en" sz="2000" dirty="0">
                <a:solidFill>
                  <a:schemeClr val="dk1"/>
                </a:solidFill>
              </a:rPr>
              <a:t>Simulation</a:t>
            </a:r>
          </a:p>
          <a:p>
            <a:pPr lvl="1">
              <a:lnSpc>
                <a:spcPct val="100000"/>
              </a:lnSpc>
              <a:buFont typeface="Arial" panose="020B0604020202020204" pitchFamily="34" charset="0"/>
              <a:buChar char="•"/>
            </a:pPr>
            <a:r>
              <a:rPr lang="en" sz="2000" dirty="0">
                <a:solidFill>
                  <a:schemeClr val="dk1"/>
                </a:solidFill>
              </a:rPr>
              <a:t>Collaboration</a:t>
            </a:r>
          </a:p>
          <a:p>
            <a:pPr lvl="1">
              <a:lnSpc>
                <a:spcPct val="100000"/>
              </a:lnSpc>
              <a:buFont typeface="Arial" panose="020B0604020202020204" pitchFamily="34" charset="0"/>
              <a:buChar char="•"/>
            </a:pPr>
            <a:r>
              <a:rPr lang="en" sz="2000" dirty="0">
                <a:solidFill>
                  <a:schemeClr val="dk1"/>
                </a:solidFill>
              </a:rPr>
              <a:t>Machining </a:t>
            </a:r>
          </a:p>
          <a:p>
            <a:pPr>
              <a:lnSpc>
                <a:spcPct val="100000"/>
              </a:lnSpc>
              <a:buFont typeface="Arial" panose="020B0604020202020204" pitchFamily="34" charset="0"/>
              <a:buChar char="•"/>
            </a:pPr>
            <a:r>
              <a:rPr lang="en" sz="2400" dirty="0"/>
              <a:t>System requirements</a:t>
            </a:r>
            <a:endParaRPr sz="2400" dirty="0"/>
          </a:p>
          <a:p>
            <a:pPr lvl="1">
              <a:lnSpc>
                <a:spcPct val="100000"/>
              </a:lnSpc>
              <a:buFont typeface="Arial" panose="020B0604020202020204" pitchFamily="34" charset="0"/>
              <a:buChar char="•"/>
            </a:pPr>
            <a:r>
              <a:rPr lang="en" sz="2000" dirty="0">
                <a:solidFill>
                  <a:schemeClr val="dk1"/>
                </a:solidFill>
              </a:rPr>
              <a:t>Compatible operating system</a:t>
            </a:r>
          </a:p>
          <a:p>
            <a:pPr lvl="1">
              <a:lnSpc>
                <a:spcPct val="100000"/>
              </a:lnSpc>
              <a:buFont typeface="Arial" panose="020B0604020202020204" pitchFamily="34" charset="0"/>
              <a:buChar char="•"/>
            </a:pPr>
            <a:r>
              <a:rPr lang="en" sz="2000" dirty="0">
                <a:solidFill>
                  <a:schemeClr val="dk1"/>
                </a:solidFill>
              </a:rPr>
              <a:t>Enough RAM</a:t>
            </a:r>
          </a:p>
          <a:p>
            <a:pPr lvl="1">
              <a:lnSpc>
                <a:spcPct val="100000"/>
              </a:lnSpc>
              <a:buFont typeface="Arial" panose="020B0604020202020204" pitchFamily="34" charset="0"/>
              <a:buChar char="•"/>
            </a:pPr>
            <a:r>
              <a:rPr lang="en" sz="2000" dirty="0">
                <a:solidFill>
                  <a:schemeClr val="dk1"/>
                </a:solidFill>
              </a:rPr>
              <a:t>Sufficient graphics capabilities</a:t>
            </a:r>
            <a:endParaRPr sz="2000" dirty="0"/>
          </a:p>
        </p:txBody>
      </p:sp>
      <p:pic>
        <p:nvPicPr>
          <p:cNvPr id="239" name="Google Shape;239;p40" title="3D Design by fusion 360 | Kenming Wang | Flickr"/>
          <p:cNvPicPr preferRelativeResize="0"/>
          <p:nvPr/>
        </p:nvPicPr>
        <p:blipFill>
          <a:blip r:embed="rId3">
            <a:alphaModFix/>
          </a:blip>
          <a:stretch>
            <a:fillRect/>
          </a:stretch>
        </p:blipFill>
        <p:spPr>
          <a:xfrm>
            <a:off x="6096000" y="1654363"/>
            <a:ext cx="6111375" cy="408221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55B8603-71E5-854A-F2BF-AD89758B5100}"/>
              </a:ext>
            </a:extLst>
          </p:cNvPr>
          <p:cNvSpPr>
            <a:spLocks noGrp="1"/>
          </p:cNvSpPr>
          <p:nvPr>
            <p:ph type="title"/>
          </p:nvPr>
        </p:nvSpPr>
        <p:spPr/>
        <p:txBody>
          <a:bodyPr>
            <a:normAutofit fontScale="90000"/>
          </a:bodyPr>
          <a:lstStyle/>
          <a:p>
            <a:r>
              <a:rPr lang="en-US" dirty="0"/>
              <a:t>Downloading Fusion 360</a:t>
            </a:r>
          </a:p>
        </p:txBody>
      </p:sp>
      <p:sp>
        <p:nvSpPr>
          <p:cNvPr id="3" name="텍스트 개체 틀 2">
            <a:extLst>
              <a:ext uri="{FF2B5EF4-FFF2-40B4-BE49-F238E27FC236}">
                <a16:creationId xmlns:a16="http://schemas.microsoft.com/office/drawing/2014/main" id="{57B41009-C865-4FD2-5D47-6D2CAD919664}"/>
              </a:ext>
            </a:extLst>
          </p:cNvPr>
          <p:cNvSpPr>
            <a:spLocks noGrp="1"/>
          </p:cNvSpPr>
          <p:nvPr>
            <p:ph type="body" idx="1"/>
          </p:nvPr>
        </p:nvSpPr>
        <p:spPr>
          <a:xfrm>
            <a:off x="415600" y="1536632"/>
            <a:ext cx="11360800" cy="4932747"/>
          </a:xfrm>
        </p:spPr>
        <p:txBody>
          <a:bodyPr>
            <a:normAutofit/>
          </a:bodyPr>
          <a:lstStyle/>
          <a:p>
            <a:pPr marL="152396" indent="0">
              <a:lnSpc>
                <a:spcPct val="100000"/>
              </a:lnSpc>
              <a:buNone/>
            </a:pPr>
            <a:r>
              <a:rPr lang="en-US" b="1" dirty="0"/>
              <a:t>Step1: Visit the Autodesk Fusion 360 Website</a:t>
            </a:r>
          </a:p>
          <a:p>
            <a:pPr marL="666746" indent="-514350">
              <a:lnSpc>
                <a:spcPct val="100000"/>
              </a:lnSpc>
              <a:buAutoNum type="arabicPeriod"/>
            </a:pPr>
            <a:r>
              <a:rPr lang="en-US" sz="2400" dirty="0"/>
              <a:t>Open your web browser and go to </a:t>
            </a:r>
            <a:r>
              <a:rPr lang="en-US" sz="2400" u="sng" dirty="0">
                <a:solidFill>
                  <a:srgbClr val="0070C0"/>
                </a:solidFill>
              </a:rPr>
              <a:t>Autodesk Fusion 360</a:t>
            </a:r>
          </a:p>
          <a:p>
            <a:pPr marL="152396" indent="0">
              <a:lnSpc>
                <a:spcPct val="100000"/>
              </a:lnSpc>
              <a:buNone/>
            </a:pPr>
            <a:endParaRPr lang="en-US" sz="2400" dirty="0"/>
          </a:p>
          <a:p>
            <a:pPr marL="152396" indent="0">
              <a:lnSpc>
                <a:spcPct val="100000"/>
              </a:lnSpc>
              <a:buNone/>
            </a:pPr>
            <a:r>
              <a:rPr lang="en-US" b="1" dirty="0"/>
              <a:t>Step2: Sign in or Create an Autodesk Account</a:t>
            </a:r>
          </a:p>
          <a:p>
            <a:pPr marL="666746" indent="-514350">
              <a:lnSpc>
                <a:spcPct val="100000"/>
              </a:lnSpc>
              <a:buAutoNum type="arabicPeriod"/>
            </a:pPr>
            <a:r>
              <a:rPr lang="en-US" sz="2400" dirty="0"/>
              <a:t>Sign in: Click “Sign in” on the page</a:t>
            </a:r>
          </a:p>
          <a:p>
            <a:pPr marL="1276331" lvl="1" indent="-514350">
              <a:lnSpc>
                <a:spcPct val="100000"/>
              </a:lnSpc>
            </a:pPr>
            <a:r>
              <a:rPr lang="en-US" sz="2000" dirty="0"/>
              <a:t>If you don't have an account, select "Create Account" and fill in your details.</a:t>
            </a:r>
          </a:p>
          <a:p>
            <a:pPr marL="666746" indent="-514350">
              <a:lnSpc>
                <a:spcPct val="100000"/>
              </a:lnSpc>
              <a:buAutoNum type="arabicPeriod"/>
            </a:pPr>
            <a:r>
              <a:rPr lang="en-US" sz="2400" dirty="0"/>
              <a:t>Verify your email if needed</a:t>
            </a:r>
          </a:p>
          <a:p>
            <a:pPr marL="152396" indent="0">
              <a:lnSpc>
                <a:spcPct val="100000"/>
              </a:lnSpc>
              <a:buNone/>
            </a:pPr>
            <a:endParaRPr lang="en-US" sz="2400" dirty="0"/>
          </a:p>
          <a:p>
            <a:pPr marL="152396" indent="0">
              <a:lnSpc>
                <a:spcPct val="100000"/>
              </a:lnSpc>
              <a:buNone/>
            </a:pPr>
            <a:r>
              <a:rPr lang="en-US" b="1" dirty="0"/>
              <a:t>Step3: Download the Fusion 360 Installer</a:t>
            </a:r>
          </a:p>
          <a:p>
            <a:pPr marL="666746" indent="-514350">
              <a:lnSpc>
                <a:spcPct val="100000"/>
              </a:lnSpc>
              <a:buAutoNum type="arabicPeriod"/>
            </a:pPr>
            <a:r>
              <a:rPr lang="en-US" sz="2400" dirty="0"/>
              <a:t>Choose your  version: Select the appropriate option (free trial, educational, or subscription).</a:t>
            </a:r>
          </a:p>
          <a:p>
            <a:pPr marL="666746" indent="-514350">
              <a:lnSpc>
                <a:spcPct val="100000"/>
              </a:lnSpc>
              <a:buAutoNum type="arabicPeriod"/>
            </a:pPr>
            <a:r>
              <a:rPr lang="en-US" sz="2400" dirty="0"/>
              <a:t>Download: Click the "Download" button and save the installer to your computer.</a:t>
            </a:r>
          </a:p>
        </p:txBody>
      </p:sp>
    </p:spTree>
    <p:extLst>
      <p:ext uri="{BB962C8B-B14F-4D97-AF65-F5344CB8AC3E}">
        <p14:creationId xmlns:p14="http://schemas.microsoft.com/office/powerpoint/2010/main" val="1314953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5C77DB-7FF1-CBD6-091E-0D3E386275AA}"/>
              </a:ext>
            </a:extLst>
          </p:cNvPr>
          <p:cNvSpPr>
            <a:spLocks noGrp="1"/>
          </p:cNvSpPr>
          <p:nvPr>
            <p:ph type="title"/>
          </p:nvPr>
        </p:nvSpPr>
        <p:spPr/>
        <p:txBody>
          <a:bodyPr>
            <a:normAutofit fontScale="90000"/>
          </a:bodyPr>
          <a:lstStyle/>
          <a:p>
            <a:r>
              <a:rPr lang="en-US" dirty="0"/>
              <a:t>Installing Fusion 360</a:t>
            </a:r>
          </a:p>
        </p:txBody>
      </p:sp>
      <p:sp>
        <p:nvSpPr>
          <p:cNvPr id="3" name="텍스트 개체 틀 2">
            <a:extLst>
              <a:ext uri="{FF2B5EF4-FFF2-40B4-BE49-F238E27FC236}">
                <a16:creationId xmlns:a16="http://schemas.microsoft.com/office/drawing/2014/main" id="{9F9BB925-47E5-08E0-53C6-2F7B55C86E7C}"/>
              </a:ext>
            </a:extLst>
          </p:cNvPr>
          <p:cNvSpPr>
            <a:spLocks noGrp="1"/>
          </p:cNvSpPr>
          <p:nvPr>
            <p:ph type="body" idx="1"/>
          </p:nvPr>
        </p:nvSpPr>
        <p:spPr/>
        <p:txBody>
          <a:bodyPr/>
          <a:lstStyle/>
          <a:p>
            <a:pPr marL="152396" indent="0">
              <a:buNone/>
            </a:pPr>
            <a:r>
              <a:rPr lang="en-US" b="1" dirty="0"/>
              <a:t>Step4: </a:t>
            </a:r>
            <a:r>
              <a:rPr lang="en-US" sz="2800" b="1" dirty="0">
                <a:solidFill>
                  <a:schemeClr val="dk1"/>
                </a:solidFill>
              </a:rPr>
              <a:t>Install Fusion 360</a:t>
            </a:r>
            <a:endParaRPr lang="en-US" b="1" dirty="0"/>
          </a:p>
          <a:p>
            <a:pPr marL="666746" indent="-514350">
              <a:buAutoNum type="arabicPeriod"/>
            </a:pPr>
            <a:r>
              <a:rPr lang="en-US" sz="2400" dirty="0"/>
              <a:t>Run the installer: Locate the downloaded file and double-click it.</a:t>
            </a:r>
          </a:p>
          <a:p>
            <a:pPr marL="666746" indent="-514350">
              <a:buFont typeface="Arial" panose="020B0604020202020204" pitchFamily="34" charset="0"/>
              <a:buAutoNum type="arabicPeriod"/>
            </a:pPr>
            <a:r>
              <a:rPr lang="en-US" sz="2400" dirty="0">
                <a:solidFill>
                  <a:schemeClr val="dk1"/>
                </a:solidFill>
              </a:rPr>
              <a:t>Follow the on-screen instructions to complete the installation.</a:t>
            </a:r>
            <a:endParaRPr lang="en-US" sz="2400" dirty="0"/>
          </a:p>
          <a:p>
            <a:pPr marL="152396" indent="0">
              <a:buNone/>
            </a:pPr>
            <a:endParaRPr lang="en-US" dirty="0"/>
          </a:p>
          <a:p>
            <a:pPr marL="152396" indent="0">
              <a:buNone/>
            </a:pPr>
            <a:r>
              <a:rPr lang="en-US" b="1" dirty="0"/>
              <a:t>Step5:</a:t>
            </a:r>
            <a:r>
              <a:rPr lang="en" sz="2800" b="1" dirty="0">
                <a:solidFill>
                  <a:schemeClr val="dk1"/>
                </a:solidFill>
              </a:rPr>
              <a:t> Start Using Fusion 360</a:t>
            </a:r>
            <a:endParaRPr lang="en-US" b="1" dirty="0"/>
          </a:p>
          <a:p>
            <a:pPr marL="666746" indent="-514350">
              <a:buAutoNum type="arabicPeriod"/>
            </a:pPr>
            <a:r>
              <a:rPr lang="en-US" sz="2400" dirty="0"/>
              <a:t>Launch Fusion 360: Sign in if prompted, and complete any setup steps.</a:t>
            </a:r>
          </a:p>
          <a:p>
            <a:pPr marL="152396" indent="0">
              <a:buNone/>
            </a:pPr>
            <a:endParaRPr lang="en-US" dirty="0"/>
          </a:p>
          <a:p>
            <a:pPr marL="152396" indent="0">
              <a:buNone/>
            </a:pPr>
            <a:r>
              <a:rPr lang="en-US" sz="2800" dirty="0">
                <a:solidFill>
                  <a:schemeClr val="dk1"/>
                </a:solidFill>
              </a:rPr>
              <a:t>You’re now ready to start using Autodesk Fusion 360!</a:t>
            </a:r>
            <a:endParaRPr lang="en-US" sz="2800" dirty="0"/>
          </a:p>
          <a:p>
            <a:pPr marL="152396" indent="0">
              <a:buNone/>
            </a:pPr>
            <a:endParaRPr lang="en-US" dirty="0"/>
          </a:p>
        </p:txBody>
      </p:sp>
    </p:spTree>
    <p:extLst>
      <p:ext uri="{BB962C8B-B14F-4D97-AF65-F5344CB8AC3E}">
        <p14:creationId xmlns:p14="http://schemas.microsoft.com/office/powerpoint/2010/main" val="3438260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256" name="Google Shape;256;p43"/>
          <p:cNvPicPr preferRelativeResize="0"/>
          <p:nvPr/>
        </p:nvPicPr>
        <p:blipFill>
          <a:blip r:embed="rId3">
            <a:alphaModFix/>
          </a:blip>
          <a:stretch>
            <a:fillRect/>
          </a:stretch>
        </p:blipFill>
        <p:spPr>
          <a:xfrm>
            <a:off x="1" y="381220"/>
            <a:ext cx="12192004" cy="6846096"/>
          </a:xfrm>
          <a:prstGeom prst="rect">
            <a:avLst/>
          </a:prstGeom>
          <a:noFill/>
          <a:ln>
            <a:noFill/>
          </a:ln>
        </p:spPr>
      </p:pic>
      <p:sp>
        <p:nvSpPr>
          <p:cNvPr id="257" name="Google Shape;257;p43"/>
          <p:cNvSpPr txBox="1">
            <a:spLocks noGrp="1"/>
          </p:cNvSpPr>
          <p:nvPr>
            <p:ph type="title"/>
          </p:nvPr>
        </p:nvSpPr>
        <p:spPr>
          <a:xfrm>
            <a:off x="415600" y="593367"/>
            <a:ext cx="11414450" cy="763600"/>
          </a:xfrm>
          <a:prstGeom prst="rect">
            <a:avLst/>
          </a:prstGeom>
          <a:solidFill>
            <a:schemeClr val="lt1"/>
          </a:solidFill>
        </p:spPr>
        <p:txBody>
          <a:bodyPr spcFirstLastPara="1" vert="horz" wrap="square" lIns="121900" tIns="121900" rIns="121900" bIns="121900" rtlCol="0" anchor="t" anchorCtr="0">
            <a:normAutofit fontScale="90000"/>
          </a:bodyPr>
          <a:lstStyle/>
          <a:p>
            <a:pPr>
              <a:buClr>
                <a:schemeClr val="dk1"/>
              </a:buClr>
              <a:buSzPct val="39285"/>
            </a:pPr>
            <a:r>
              <a:rPr lang="en" dirty="0"/>
              <a:t>Creating a New Project and Workspace Setup</a:t>
            </a:r>
            <a:endParaRPr dirty="0"/>
          </a:p>
          <a:p>
            <a:pPr>
              <a:buClr>
                <a:schemeClr val="dk1"/>
              </a:buClr>
              <a:buSzPct val="39285"/>
            </a:pPr>
            <a:endParaRPr dirty="0"/>
          </a:p>
          <a:p>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pic>
        <p:nvPicPr>
          <p:cNvPr id="262" name="Google Shape;262;p44"/>
          <p:cNvPicPr preferRelativeResize="0"/>
          <p:nvPr/>
        </p:nvPicPr>
        <p:blipFill>
          <a:blip r:embed="rId3">
            <a:alphaModFix/>
          </a:blip>
          <a:stretch>
            <a:fillRect/>
          </a:stretch>
        </p:blipFill>
        <p:spPr>
          <a:xfrm>
            <a:off x="-337000" y="11"/>
            <a:ext cx="12210091" cy="6858000"/>
          </a:xfrm>
          <a:prstGeom prst="rect">
            <a:avLst/>
          </a:prstGeom>
          <a:noFill/>
          <a:ln>
            <a:noFill/>
          </a:ln>
        </p:spPr>
      </p:pic>
      <p:sp>
        <p:nvSpPr>
          <p:cNvPr id="263" name="Google Shape;263;p44"/>
          <p:cNvSpPr txBox="1">
            <a:spLocks noGrp="1"/>
          </p:cNvSpPr>
          <p:nvPr>
            <p:ph type="title"/>
          </p:nvPr>
        </p:nvSpPr>
        <p:spPr>
          <a:xfrm>
            <a:off x="415600" y="616900"/>
            <a:ext cx="7413950" cy="763600"/>
          </a:xfrm>
          <a:prstGeom prst="rect">
            <a:avLst/>
          </a:prstGeom>
          <a:solidFill>
            <a:schemeClr val="lt1"/>
          </a:solidFill>
        </p:spPr>
        <p:txBody>
          <a:bodyPr spcFirstLastPara="1" vert="horz" wrap="square" lIns="121900" tIns="121900" rIns="121900" bIns="121900" rtlCol="0" anchor="t" anchorCtr="0">
            <a:normAutofit fontScale="90000"/>
          </a:bodyPr>
          <a:lstStyle/>
          <a:p>
            <a:pPr>
              <a:buClr>
                <a:schemeClr val="dk1"/>
              </a:buClr>
              <a:buSzPct val="39285"/>
            </a:pPr>
            <a:r>
              <a:rPr lang="en" dirty="0"/>
              <a:t>Building a Simple Cube Model</a:t>
            </a:r>
            <a:endParaRPr dirty="0"/>
          </a:p>
          <a:p>
            <a:pPr>
              <a:buClr>
                <a:schemeClr val="dk1"/>
              </a:buClr>
              <a:buSzPct val="39285"/>
            </a:pPr>
            <a:endParaRPr dirty="0"/>
          </a:p>
          <a:p>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5"/>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pPr>
              <a:buClr>
                <a:schemeClr val="dk1"/>
              </a:buClr>
              <a:buSzPct val="39285"/>
            </a:pPr>
            <a:r>
              <a:rPr lang="en"/>
              <a:t>Conclusion and Next Steps</a:t>
            </a:r>
            <a:endParaRPr/>
          </a:p>
          <a:p>
            <a:pPr>
              <a:buClr>
                <a:schemeClr val="dk1"/>
              </a:buClr>
              <a:buSzPct val="39285"/>
            </a:pPr>
            <a:endParaRPr/>
          </a:p>
          <a:p>
            <a:endParaRPr/>
          </a:p>
        </p:txBody>
      </p:sp>
      <p:sp>
        <p:nvSpPr>
          <p:cNvPr id="270" name="Google Shape;270;p45"/>
          <p:cNvSpPr txBox="1">
            <a:spLocks noGrp="1"/>
          </p:cNvSpPr>
          <p:nvPr>
            <p:ph type="body" idx="1"/>
          </p:nvPr>
        </p:nvSpPr>
        <p:spPr>
          <a:xfrm>
            <a:off x="415600" y="1536633"/>
            <a:ext cx="11360800" cy="1675197"/>
          </a:xfrm>
          <a:prstGeom prst="rect">
            <a:avLst/>
          </a:prstGeom>
        </p:spPr>
        <p:txBody>
          <a:bodyPr spcFirstLastPara="1" vert="horz" wrap="square" lIns="121900" tIns="121900" rIns="121900" bIns="121900" rtlCol="0" anchor="t" anchorCtr="0">
            <a:normAutofit/>
          </a:bodyPr>
          <a:lstStyle/>
          <a:p>
            <a:pPr marL="0" indent="0">
              <a:spcAft>
                <a:spcPts val="1600"/>
              </a:spcAft>
              <a:buNone/>
            </a:pPr>
            <a:r>
              <a:rPr lang="en" dirty="0"/>
              <a:t>Fusion 360 offers a wide range of tools and features that allow you to design complex models, simulate their behavior, and even prepare them for manufacturing.</a:t>
            </a:r>
            <a:endParaRPr dirty="0"/>
          </a:p>
        </p:txBody>
      </p:sp>
      <p:pic>
        <p:nvPicPr>
          <p:cNvPr id="272" name="Google Shape;272;p45" title="File:CAM Fusion 360.png - Wikimedia Commons"/>
          <p:cNvPicPr preferRelativeResize="0"/>
          <p:nvPr/>
        </p:nvPicPr>
        <p:blipFill>
          <a:blip r:embed="rId3">
            <a:alphaModFix/>
          </a:blip>
          <a:stretch>
            <a:fillRect/>
          </a:stretch>
        </p:blipFill>
        <p:spPr>
          <a:xfrm>
            <a:off x="3767350" y="3211830"/>
            <a:ext cx="4428700" cy="309394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722</Words>
  <Application>Microsoft Office PowerPoint</Application>
  <PresentationFormat>와이드스크린</PresentationFormat>
  <Paragraphs>63</Paragraphs>
  <Slides>7</Slides>
  <Notes>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Aptos</vt:lpstr>
      <vt:lpstr>Aptos Display</vt:lpstr>
      <vt:lpstr>Arial</vt:lpstr>
      <vt:lpstr>Office Theme</vt:lpstr>
      <vt:lpstr>Installing Fusion 360 and  Building a Simple Cube</vt:lpstr>
      <vt:lpstr>Introduction to Fusion 360    </vt:lpstr>
      <vt:lpstr>Downloading Fusion 360</vt:lpstr>
      <vt:lpstr>Installing Fusion 360</vt:lpstr>
      <vt:lpstr>Creating a New Project and Workspace Setup  </vt:lpstr>
      <vt:lpstr>Building a Simple Cube Model  </vt:lpstr>
      <vt:lpstr>Conclusion and Next Steps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Geonsun Lee</dc:creator>
  <cp:lastModifiedBy>Geonsun Lee</cp:lastModifiedBy>
  <cp:revision>20</cp:revision>
  <dcterms:created xsi:type="dcterms:W3CDTF">2024-07-25T16:29:20Z</dcterms:created>
  <dcterms:modified xsi:type="dcterms:W3CDTF">2024-08-14T03:17:51Z</dcterms:modified>
</cp:coreProperties>
</file>