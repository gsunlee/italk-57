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74" r:id="rId2"/>
    <p:sldId id="275" r:id="rId3"/>
    <p:sldId id="276" r:id="rId4"/>
    <p:sldId id="277" r:id="rId5"/>
    <p:sldId id="278" r:id="rId6"/>
    <p:sldId id="279" r:id="rId7"/>
    <p:sldId id="28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947"/>
    <p:restoredTop sz="85442" autoAdjust="0"/>
  </p:normalViewPr>
  <p:slideViewPr>
    <p:cSldViewPr snapToGrid="0">
      <p:cViewPr varScale="1">
        <p:scale>
          <a:sx n="108" d="100"/>
          <a:sy n="108" d="100"/>
        </p:scale>
        <p:origin x="80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BD1D0F-7E51-4076-A13B-7DA687E4CEBD}" type="datetimeFigureOut">
              <a:rPr lang="en-US" smtClean="0"/>
              <a:t>8/14/24</a:t>
            </a:fld>
            <a:endParaRPr 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9803D6-019C-4764-8B06-B47CA942368F}" type="slidenum">
              <a:rPr lang="en-US" smtClean="0"/>
              <a:t>‹#›</a:t>
            </a:fld>
            <a:endParaRPr lang="en-US"/>
          </a:p>
        </p:txBody>
      </p:sp>
    </p:spTree>
    <p:extLst>
      <p:ext uri="{BB962C8B-B14F-4D97-AF65-F5344CB8AC3E}">
        <p14:creationId xmlns:p14="http://schemas.microsoft.com/office/powerpoint/2010/main" val="1370712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wikihow.com/Improve-Time-Management-Skills"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2f1a8aa1229_0_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2f1a8aa1229_0_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u="sng" dirty="0">
                <a:solidFill>
                  <a:schemeClr val="hlink"/>
                </a:solidFill>
                <a:hlinkClick r:id="rId3"/>
              </a:rPr>
              <a:t>https://www.wikihow.com/Improve-Time-Management-Skills</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Good [morning/afternoon], everyone. My name is [Your Name], and today I'll be sharing a concise guide on how to improve your time management skills. Whether you're a student, professional, or just looking to optimize your daily routine, these tips will help you make the most of your time."</a:t>
            </a:r>
            <a:endParaRPr dirty="0">
              <a:solidFill>
                <a:schemeClr val="dk1"/>
              </a:solidFill>
            </a:endParaRPr>
          </a:p>
          <a:p>
            <a:pPr marL="0" lvl="0" indent="0" algn="l" rtl="0">
              <a:spcBef>
                <a:spcPts val="120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f1a8aa1229_0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2f1a8aa1229_0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Time management involves planning and controlling how much time you dedicate to various tasks. It’s essential for increasing efficiency, reducing stress, and improving work-life balance. The first step in mastering this skill is setting clear, SMART goals—Specific, Measurable, Achievable, Relevant, and Time-bound. These goals give you direction and make it easier to break down larger tasks into manageable pieces.</a:t>
            </a:r>
            <a:endParaRPr dirty="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f1a8aa1229_0_3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f1a8aa1229_0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Once you’ve set your goals, the next step is to prioritize your tasks. Using tools like the Eisenhower Matrix, you can distinguish between urgent and important tasks. Prioritize high-impact activities that align with your goals. Also, avoid multitasking—it’s more effective to focus on one task at a time, ensuring higher quality and faster completion.</a:t>
            </a:r>
            <a:endParaRPr dirty="0">
              <a:solidFill>
                <a:schemeClr val="dk1"/>
              </a:solidFill>
            </a:endParaRPr>
          </a:p>
          <a:p>
            <a:pPr marL="0" lvl="0" indent="0" algn="l" rtl="0">
              <a:spcBef>
                <a:spcPts val="120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f1a8aa1229_0_3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2f1a8aa1229_0_3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Clr>
                <a:schemeClr val="dk1"/>
              </a:buClr>
              <a:buSzPts val="1100"/>
              <a:buFont typeface="Arial"/>
              <a:buNone/>
            </a:pPr>
            <a:r>
              <a:rPr lang="en" dirty="0">
                <a:solidFill>
                  <a:schemeClr val="dk1"/>
                </a:solidFill>
              </a:rPr>
              <a:t>Effective scheduling is crucial to good time management. Use planners to organize your day, week, and month, assigning specific time blocks to each task. Don’t forget to include breaks and buffer times. This not only helps prevent burnout but also provides flexibility to handle unexpected interruptions.</a:t>
            </a:r>
            <a:endParaRPr dirty="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2f1a8aa1229_0_3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2f1a8aa1229_0_3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To maximize your productivity, it’s essential to eliminate distractions. Identify what typically pulls your attention away—whether it’s social media, noise, or other interruptions. Create a focused work environment and consider using apps or tools that help you block these distractions, especially during critical work periods.</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None/>
            </a:pPr>
            <a:endParaRPr b="1" dirty="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f1a8aa1229_0_3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2f1a8aa1229_0_3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Finally, effective time management requires continuous improvement. Regularly review your progress toward your goals, and be open to adjusting your strategies if something isn’t working. Reflecting on your successes and challenges will help you refine your approach and keep improving over time.</a:t>
            </a:r>
            <a:endParaRPr dirty="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2f1a8aa1229_0_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2f1a8aa1229_0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In closing, mastering time management involves setting clear goals, prioritizing tasks, creating effective schedules, eliminating distractions, and continuously reviewing your progress. By applying these strategies, you can significantly enhance your productivity and make the most of each day. Thank you for your attention, and I hope these tips help you on your journey to better time management."</a:t>
            </a:r>
            <a:endParaRPr dirty="0">
              <a:solidFill>
                <a:schemeClr val="dk1"/>
              </a:solidFill>
            </a:endParaRPr>
          </a:p>
          <a:p>
            <a:pPr marL="0" lvl="0" indent="0" algn="l" rtl="0">
              <a:spcBef>
                <a:spcPts val="1200"/>
              </a:spcBef>
              <a:spcAft>
                <a:spcPts val="0"/>
              </a:spcAft>
              <a:buClr>
                <a:schemeClr val="dk1"/>
              </a:buClr>
              <a:buSzPts val="1100"/>
              <a:buFont typeface="Arial"/>
              <a:buNone/>
            </a:pPr>
            <a:endParaRPr b="1" dirty="0">
              <a:solidFill>
                <a:schemeClr val="dk1"/>
              </a:solidFill>
            </a:endParaRPr>
          </a:p>
          <a:p>
            <a:pPr marL="0" lvl="0" indent="0" algn="l" rtl="0">
              <a:spcBef>
                <a:spcPts val="0"/>
              </a:spcBef>
              <a:spcAft>
                <a:spcPts val="0"/>
              </a:spcAft>
              <a:buNone/>
            </a:pPr>
            <a:endParaRPr b="1" dirty="0">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7B8BB-22F7-66A3-02C2-184DB0F66F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108271E-D7BA-418B-C587-60A8CA19D0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43459D-3C8C-2578-81CF-581B7C9CE9B7}"/>
              </a:ext>
            </a:extLst>
          </p:cNvPr>
          <p:cNvSpPr>
            <a:spLocks noGrp="1"/>
          </p:cNvSpPr>
          <p:nvPr>
            <p:ph type="dt" sz="half" idx="10"/>
          </p:nvPr>
        </p:nvSpPr>
        <p:spPr/>
        <p:txBody>
          <a:bodyPr/>
          <a:lstStyle/>
          <a:p>
            <a:fld id="{6F8FDC3A-7BD9-9842-A0FF-9D652E2379CC}" type="datetimeFigureOut">
              <a:rPr lang="en-US" smtClean="0"/>
              <a:t>8/14/24</a:t>
            </a:fld>
            <a:endParaRPr lang="en-US"/>
          </a:p>
        </p:txBody>
      </p:sp>
      <p:sp>
        <p:nvSpPr>
          <p:cNvPr id="5" name="Footer Placeholder 4">
            <a:extLst>
              <a:ext uri="{FF2B5EF4-FFF2-40B4-BE49-F238E27FC236}">
                <a16:creationId xmlns:a16="http://schemas.microsoft.com/office/drawing/2014/main" id="{A9DDEB73-C1F3-BF2A-A942-77A8AF0242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1BBEA2-BDFF-C0ED-2073-BB79C7B57279}"/>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796683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E5E1D-936A-EC94-761E-DCC2BBAE41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033D4B-0C72-C2A6-516F-D01F64EE1C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D6258C-5119-C589-2761-F136FB6F2474}"/>
              </a:ext>
            </a:extLst>
          </p:cNvPr>
          <p:cNvSpPr>
            <a:spLocks noGrp="1"/>
          </p:cNvSpPr>
          <p:nvPr>
            <p:ph type="dt" sz="half" idx="10"/>
          </p:nvPr>
        </p:nvSpPr>
        <p:spPr/>
        <p:txBody>
          <a:bodyPr/>
          <a:lstStyle/>
          <a:p>
            <a:fld id="{6F8FDC3A-7BD9-9842-A0FF-9D652E2379CC}" type="datetimeFigureOut">
              <a:rPr lang="en-US" smtClean="0"/>
              <a:t>8/14/24</a:t>
            </a:fld>
            <a:endParaRPr lang="en-US"/>
          </a:p>
        </p:txBody>
      </p:sp>
      <p:sp>
        <p:nvSpPr>
          <p:cNvPr id="5" name="Footer Placeholder 4">
            <a:extLst>
              <a:ext uri="{FF2B5EF4-FFF2-40B4-BE49-F238E27FC236}">
                <a16:creationId xmlns:a16="http://schemas.microsoft.com/office/drawing/2014/main" id="{FA9FF4DC-7ECC-A78F-6C63-65DFC1B13E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5B64E6-3C3E-7D45-3548-F2BB67C4E2B1}"/>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130156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AED77-9E0C-3274-BB6A-B0902648A4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CE55B4-DBD7-843D-FC4D-D46C9B11930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CE2400-14E9-B848-741F-EA0C41580D44}"/>
              </a:ext>
            </a:extLst>
          </p:cNvPr>
          <p:cNvSpPr>
            <a:spLocks noGrp="1"/>
          </p:cNvSpPr>
          <p:nvPr>
            <p:ph type="dt" sz="half" idx="10"/>
          </p:nvPr>
        </p:nvSpPr>
        <p:spPr/>
        <p:txBody>
          <a:bodyPr/>
          <a:lstStyle/>
          <a:p>
            <a:fld id="{6F8FDC3A-7BD9-9842-A0FF-9D652E2379CC}" type="datetimeFigureOut">
              <a:rPr lang="en-US" smtClean="0"/>
              <a:t>8/14/24</a:t>
            </a:fld>
            <a:endParaRPr lang="en-US"/>
          </a:p>
        </p:txBody>
      </p:sp>
      <p:sp>
        <p:nvSpPr>
          <p:cNvPr id="5" name="Footer Placeholder 4">
            <a:extLst>
              <a:ext uri="{FF2B5EF4-FFF2-40B4-BE49-F238E27FC236}">
                <a16:creationId xmlns:a16="http://schemas.microsoft.com/office/drawing/2014/main" id="{19D13E98-C1E6-E82F-A79F-43DBA03E87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C03BA6-4058-1AFC-7AD3-151B83A1D8A5}"/>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4251874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0F56D-8ACA-6A2B-89D1-447C4C1D4E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A17329-21B4-C24C-408D-AA0CC3E2B8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1F5AB0-28E9-95C4-1A7A-EFC94199D2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914C90-72C1-CC26-6CF3-E662A812A57A}"/>
              </a:ext>
            </a:extLst>
          </p:cNvPr>
          <p:cNvSpPr>
            <a:spLocks noGrp="1"/>
          </p:cNvSpPr>
          <p:nvPr>
            <p:ph type="dt" sz="half" idx="10"/>
          </p:nvPr>
        </p:nvSpPr>
        <p:spPr/>
        <p:txBody>
          <a:bodyPr/>
          <a:lstStyle/>
          <a:p>
            <a:fld id="{6F8FDC3A-7BD9-9842-A0FF-9D652E2379CC}" type="datetimeFigureOut">
              <a:rPr lang="en-US" smtClean="0"/>
              <a:t>8/14/24</a:t>
            </a:fld>
            <a:endParaRPr lang="en-US"/>
          </a:p>
        </p:txBody>
      </p:sp>
      <p:sp>
        <p:nvSpPr>
          <p:cNvPr id="6" name="Footer Placeholder 5">
            <a:extLst>
              <a:ext uri="{FF2B5EF4-FFF2-40B4-BE49-F238E27FC236}">
                <a16:creationId xmlns:a16="http://schemas.microsoft.com/office/drawing/2014/main" id="{F369BCD8-DE0A-429B-D1FA-C36D98B313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53A60C-DE95-5A7E-C9CB-9108A04CB079}"/>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81829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30482-2FA6-08A1-0434-EF9AFFF328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32F5730-409F-397F-14BC-7885C8CA1D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D40483-CB20-0D07-A125-D1A13232E4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D2A00C-5D2E-AE35-BE43-E649F6CFF3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48B914-C84D-07FA-5E92-38B71C3937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075F3D-1F38-0F58-7EC4-72734815E0E9}"/>
              </a:ext>
            </a:extLst>
          </p:cNvPr>
          <p:cNvSpPr>
            <a:spLocks noGrp="1"/>
          </p:cNvSpPr>
          <p:nvPr>
            <p:ph type="dt" sz="half" idx="10"/>
          </p:nvPr>
        </p:nvSpPr>
        <p:spPr/>
        <p:txBody>
          <a:bodyPr/>
          <a:lstStyle/>
          <a:p>
            <a:fld id="{6F8FDC3A-7BD9-9842-A0FF-9D652E2379CC}" type="datetimeFigureOut">
              <a:rPr lang="en-US" smtClean="0"/>
              <a:t>8/14/24</a:t>
            </a:fld>
            <a:endParaRPr lang="en-US"/>
          </a:p>
        </p:txBody>
      </p:sp>
      <p:sp>
        <p:nvSpPr>
          <p:cNvPr id="8" name="Footer Placeholder 7">
            <a:extLst>
              <a:ext uri="{FF2B5EF4-FFF2-40B4-BE49-F238E27FC236}">
                <a16:creationId xmlns:a16="http://schemas.microsoft.com/office/drawing/2014/main" id="{83D2CD82-6C0B-C8F4-622D-8F90A4C53A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3102EA-1CBA-EE0B-1133-E1CE34085CAD}"/>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092255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AD8F0-1D77-A6AD-1A81-8BEF0593CD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0320025-F050-8AEC-474E-8CA7BF0A16A7}"/>
              </a:ext>
            </a:extLst>
          </p:cNvPr>
          <p:cNvSpPr>
            <a:spLocks noGrp="1"/>
          </p:cNvSpPr>
          <p:nvPr>
            <p:ph type="dt" sz="half" idx="10"/>
          </p:nvPr>
        </p:nvSpPr>
        <p:spPr/>
        <p:txBody>
          <a:bodyPr/>
          <a:lstStyle/>
          <a:p>
            <a:fld id="{6F8FDC3A-7BD9-9842-A0FF-9D652E2379CC}" type="datetimeFigureOut">
              <a:rPr lang="en-US" smtClean="0"/>
              <a:t>8/14/24</a:t>
            </a:fld>
            <a:endParaRPr lang="en-US"/>
          </a:p>
        </p:txBody>
      </p:sp>
      <p:sp>
        <p:nvSpPr>
          <p:cNvPr id="4" name="Footer Placeholder 3">
            <a:extLst>
              <a:ext uri="{FF2B5EF4-FFF2-40B4-BE49-F238E27FC236}">
                <a16:creationId xmlns:a16="http://schemas.microsoft.com/office/drawing/2014/main" id="{BB342B21-4A39-A96A-4EDA-9E33CCEFB0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A23578-8303-F3B9-84AE-7373E4F1FBC5}"/>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990531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F7A46C-8D23-AF98-C358-52F3DA72A29D}"/>
              </a:ext>
            </a:extLst>
          </p:cNvPr>
          <p:cNvSpPr>
            <a:spLocks noGrp="1"/>
          </p:cNvSpPr>
          <p:nvPr>
            <p:ph type="dt" sz="half" idx="10"/>
          </p:nvPr>
        </p:nvSpPr>
        <p:spPr/>
        <p:txBody>
          <a:bodyPr/>
          <a:lstStyle/>
          <a:p>
            <a:fld id="{6F8FDC3A-7BD9-9842-A0FF-9D652E2379CC}" type="datetimeFigureOut">
              <a:rPr lang="en-US" smtClean="0"/>
              <a:t>8/14/24</a:t>
            </a:fld>
            <a:endParaRPr lang="en-US"/>
          </a:p>
        </p:txBody>
      </p:sp>
      <p:sp>
        <p:nvSpPr>
          <p:cNvPr id="3" name="Footer Placeholder 2">
            <a:extLst>
              <a:ext uri="{FF2B5EF4-FFF2-40B4-BE49-F238E27FC236}">
                <a16:creationId xmlns:a16="http://schemas.microsoft.com/office/drawing/2014/main" id="{9F80BBA7-4421-7026-38B6-E942C7AF63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3EB5B50-572E-2292-9C29-6B8F0DEA773D}"/>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1610219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C49C9-C176-5853-4C90-97EF743302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14C5B3D-A20C-BA62-C999-9DDAA152A7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DE16B0-3DC0-80E3-E01E-E5F7D66733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6C1BBE-3030-C625-F529-6E8479FE3C00}"/>
              </a:ext>
            </a:extLst>
          </p:cNvPr>
          <p:cNvSpPr>
            <a:spLocks noGrp="1"/>
          </p:cNvSpPr>
          <p:nvPr>
            <p:ph type="dt" sz="half" idx="10"/>
          </p:nvPr>
        </p:nvSpPr>
        <p:spPr/>
        <p:txBody>
          <a:bodyPr/>
          <a:lstStyle/>
          <a:p>
            <a:fld id="{6F8FDC3A-7BD9-9842-A0FF-9D652E2379CC}" type="datetimeFigureOut">
              <a:rPr lang="en-US" smtClean="0"/>
              <a:t>8/14/24</a:t>
            </a:fld>
            <a:endParaRPr lang="en-US"/>
          </a:p>
        </p:txBody>
      </p:sp>
      <p:sp>
        <p:nvSpPr>
          <p:cNvPr id="6" name="Footer Placeholder 5">
            <a:extLst>
              <a:ext uri="{FF2B5EF4-FFF2-40B4-BE49-F238E27FC236}">
                <a16:creationId xmlns:a16="http://schemas.microsoft.com/office/drawing/2014/main" id="{A1C51720-0357-CD3E-7948-70941414D7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1CEEA3-2A87-F504-D1F2-22A919BD7340}"/>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34926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A5239-9E2A-A1CA-6BEC-842F949D1B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1F02C3-B907-2E2B-2E47-D9A5A8BE45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3F00C6-17AF-5436-917B-AE4FFC500B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9DE7EA-4ABF-AEC6-F79C-F69D691DCD89}"/>
              </a:ext>
            </a:extLst>
          </p:cNvPr>
          <p:cNvSpPr>
            <a:spLocks noGrp="1"/>
          </p:cNvSpPr>
          <p:nvPr>
            <p:ph type="dt" sz="half" idx="10"/>
          </p:nvPr>
        </p:nvSpPr>
        <p:spPr/>
        <p:txBody>
          <a:bodyPr/>
          <a:lstStyle/>
          <a:p>
            <a:fld id="{6F8FDC3A-7BD9-9842-A0FF-9D652E2379CC}" type="datetimeFigureOut">
              <a:rPr lang="en-US" smtClean="0"/>
              <a:t>8/14/24</a:t>
            </a:fld>
            <a:endParaRPr lang="en-US"/>
          </a:p>
        </p:txBody>
      </p:sp>
      <p:sp>
        <p:nvSpPr>
          <p:cNvPr id="6" name="Footer Placeholder 5">
            <a:extLst>
              <a:ext uri="{FF2B5EF4-FFF2-40B4-BE49-F238E27FC236}">
                <a16:creationId xmlns:a16="http://schemas.microsoft.com/office/drawing/2014/main" id="{01F6B7D0-B4EF-EA56-E0B9-82EA44BBDB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9B10DE-6DD0-20A1-9A00-3138711F9FFB}"/>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2086753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A96E5-FE18-2477-DB09-2037D393A71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CFFD40-A702-54DA-45D9-29E45043A1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87847D-2A6E-D983-98F8-E48472C948D6}"/>
              </a:ext>
            </a:extLst>
          </p:cNvPr>
          <p:cNvSpPr>
            <a:spLocks noGrp="1"/>
          </p:cNvSpPr>
          <p:nvPr>
            <p:ph type="dt" sz="half" idx="10"/>
          </p:nvPr>
        </p:nvSpPr>
        <p:spPr/>
        <p:txBody>
          <a:bodyPr/>
          <a:lstStyle/>
          <a:p>
            <a:fld id="{6F8FDC3A-7BD9-9842-A0FF-9D652E2379CC}" type="datetimeFigureOut">
              <a:rPr lang="en-US" smtClean="0"/>
              <a:t>8/14/24</a:t>
            </a:fld>
            <a:endParaRPr lang="en-US"/>
          </a:p>
        </p:txBody>
      </p:sp>
      <p:sp>
        <p:nvSpPr>
          <p:cNvPr id="5" name="Footer Placeholder 4">
            <a:extLst>
              <a:ext uri="{FF2B5EF4-FFF2-40B4-BE49-F238E27FC236}">
                <a16:creationId xmlns:a16="http://schemas.microsoft.com/office/drawing/2014/main" id="{3C1414EF-324D-2208-9012-0C77C19C3D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9C8AA4-BB89-0AD3-1D9B-FD4789FAC068}"/>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425927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BF5E5A-00CC-8C5F-D367-CA2332A41EE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9DBB4FD-4400-7FAA-4F30-7EA76758F1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95387A-20C4-F2B9-16B2-150827C722D8}"/>
              </a:ext>
            </a:extLst>
          </p:cNvPr>
          <p:cNvSpPr>
            <a:spLocks noGrp="1"/>
          </p:cNvSpPr>
          <p:nvPr>
            <p:ph type="dt" sz="half" idx="10"/>
          </p:nvPr>
        </p:nvSpPr>
        <p:spPr/>
        <p:txBody>
          <a:bodyPr/>
          <a:lstStyle/>
          <a:p>
            <a:fld id="{6F8FDC3A-7BD9-9842-A0FF-9D652E2379CC}" type="datetimeFigureOut">
              <a:rPr lang="en-US" smtClean="0"/>
              <a:t>8/14/24</a:t>
            </a:fld>
            <a:endParaRPr lang="en-US"/>
          </a:p>
        </p:txBody>
      </p:sp>
      <p:sp>
        <p:nvSpPr>
          <p:cNvPr id="5" name="Footer Placeholder 4">
            <a:extLst>
              <a:ext uri="{FF2B5EF4-FFF2-40B4-BE49-F238E27FC236}">
                <a16:creationId xmlns:a16="http://schemas.microsoft.com/office/drawing/2014/main" id="{D3209152-62FD-C0D7-1BA7-8793A30937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61E20D-61EC-F993-D14C-44B9B9B0245D}"/>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9916249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884735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4BBCFF-611C-BA18-CB37-92FF96D8C4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EF4D33-0533-C581-0D33-5AA309BFEF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2C5FD4-9D91-E604-17DE-4F89368AEA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F8FDC3A-7BD9-9842-A0FF-9D652E2379CC}" type="datetimeFigureOut">
              <a:rPr lang="en-US" smtClean="0"/>
              <a:t>8/14/24</a:t>
            </a:fld>
            <a:endParaRPr lang="en-US"/>
          </a:p>
        </p:txBody>
      </p:sp>
      <p:sp>
        <p:nvSpPr>
          <p:cNvPr id="5" name="Footer Placeholder 4">
            <a:extLst>
              <a:ext uri="{FF2B5EF4-FFF2-40B4-BE49-F238E27FC236}">
                <a16:creationId xmlns:a16="http://schemas.microsoft.com/office/drawing/2014/main" id="{2E56EDFA-4069-A972-F652-8B70677D3A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F2E8FF2-FD96-54EF-BFFA-1A9E84C8F1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6E27035-7CE7-1747-9EC1-B22839B31021}" type="slidenum">
              <a:rPr lang="en-US" smtClean="0"/>
              <a:t>‹#›</a:t>
            </a:fld>
            <a:endParaRPr lang="en-US"/>
          </a:p>
        </p:txBody>
      </p:sp>
    </p:spTree>
    <p:extLst>
      <p:ext uri="{BB962C8B-B14F-4D97-AF65-F5344CB8AC3E}">
        <p14:creationId xmlns:p14="http://schemas.microsoft.com/office/powerpoint/2010/main" val="18059824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pic>
        <p:nvPicPr>
          <p:cNvPr id="1026" name="Picture 2">
            <a:extLst>
              <a:ext uri="{FF2B5EF4-FFF2-40B4-BE49-F238E27FC236}">
                <a16:creationId xmlns:a16="http://schemas.microsoft.com/office/drawing/2014/main" id="{E5603AB7-657E-80A8-7337-11A621BD5F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7919" y="-2893100"/>
            <a:ext cx="15812371" cy="12213383"/>
          </a:xfrm>
          <a:prstGeom prst="rect">
            <a:avLst/>
          </a:prstGeom>
          <a:noFill/>
          <a:extLst>
            <a:ext uri="{909E8E84-426E-40DD-AFC4-6F175D3DCCD1}">
              <a14:hiddenFill xmlns:a14="http://schemas.microsoft.com/office/drawing/2010/main">
                <a:solidFill>
                  <a:srgbClr val="FFFFFF"/>
                </a:solidFill>
              </a14:hiddenFill>
            </a:ext>
          </a:extLst>
        </p:spPr>
      </p:pic>
      <p:sp>
        <p:nvSpPr>
          <p:cNvPr id="176" name="Google Shape;176;p31"/>
          <p:cNvSpPr txBox="1">
            <a:spLocks noGrp="1"/>
          </p:cNvSpPr>
          <p:nvPr>
            <p:ph type="ctrTitle"/>
          </p:nvPr>
        </p:nvSpPr>
        <p:spPr>
          <a:xfrm>
            <a:off x="415600" y="1614233"/>
            <a:ext cx="11360800" cy="2115200"/>
          </a:xfrm>
          <a:prstGeom prst="rect">
            <a:avLst/>
          </a:prstGeom>
          <a:solidFill>
            <a:schemeClr val="lt1"/>
          </a:solidFill>
        </p:spPr>
        <p:txBody>
          <a:bodyPr spcFirstLastPara="1" vert="horz" wrap="square" lIns="121900" tIns="121900" rIns="121900" bIns="121900" rtlCol="0" anchor="b" anchorCtr="0">
            <a:normAutofit/>
          </a:bodyPr>
          <a:lstStyle/>
          <a:p>
            <a:pPr>
              <a:spcBef>
                <a:spcPts val="0"/>
              </a:spcBef>
            </a:pPr>
            <a:r>
              <a:rPr lang="en" dirty="0"/>
              <a:t>Mastering Time Management: Essential Skills for Productivity</a:t>
            </a:r>
            <a:endParaRPr dirty="0"/>
          </a:p>
        </p:txBody>
      </p:sp>
      <p:sp>
        <p:nvSpPr>
          <p:cNvPr id="177" name="Google Shape;177;p31"/>
          <p:cNvSpPr txBox="1">
            <a:spLocks noGrp="1"/>
          </p:cNvSpPr>
          <p:nvPr>
            <p:ph type="subTitle" idx="1"/>
          </p:nvPr>
        </p:nvSpPr>
        <p:spPr>
          <a:xfrm>
            <a:off x="2794067" y="3825000"/>
            <a:ext cx="6488400" cy="837200"/>
          </a:xfrm>
          <a:prstGeom prst="rect">
            <a:avLst/>
          </a:prstGeom>
          <a:solidFill>
            <a:schemeClr val="lt1"/>
          </a:solidFill>
        </p:spPr>
        <p:txBody>
          <a:bodyPr spcFirstLastPara="1" vert="horz" wrap="square" lIns="121900" tIns="121900" rIns="121900" bIns="121900" rtlCol="0" anchor="ctr" anchorCtr="0">
            <a:normAutofit/>
          </a:bodyPr>
          <a:lstStyle/>
          <a:p>
            <a:pPr>
              <a:spcBef>
                <a:spcPts val="0"/>
              </a:spcBef>
            </a:pPr>
            <a:r>
              <a:rPr lang="en" dirty="0"/>
              <a:t>A Step-by-Step Guide</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2"/>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What is Time Management? &amp; Setting Clear Goals</a:t>
            </a:r>
            <a:endParaRPr/>
          </a:p>
          <a:p>
            <a:endParaRPr/>
          </a:p>
          <a:p>
            <a:endParaRPr/>
          </a:p>
          <a:p>
            <a:endParaRPr/>
          </a:p>
          <a:p>
            <a:endParaRPr/>
          </a:p>
        </p:txBody>
      </p:sp>
      <p:sp>
        <p:nvSpPr>
          <p:cNvPr id="184" name="Google Shape;184;p32"/>
          <p:cNvSpPr txBox="1">
            <a:spLocks noGrp="1"/>
          </p:cNvSpPr>
          <p:nvPr>
            <p:ph type="body" idx="1"/>
          </p:nvPr>
        </p:nvSpPr>
        <p:spPr>
          <a:xfrm>
            <a:off x="526000" y="1698267"/>
            <a:ext cx="10868000" cy="4555200"/>
          </a:xfrm>
          <a:prstGeom prst="rect">
            <a:avLst/>
          </a:prstGeom>
        </p:spPr>
        <p:txBody>
          <a:bodyPr spcFirstLastPara="1" vert="horz" wrap="square" lIns="121900" tIns="121900" rIns="121900" bIns="121900" rtlCol="0" anchor="t" anchorCtr="0">
            <a:normAutofit/>
          </a:bodyPr>
          <a:lstStyle/>
          <a:p>
            <a:pPr marL="457200" indent="-457200">
              <a:buFont typeface="Arial" panose="020B0604020202020204" pitchFamily="34" charset="0"/>
              <a:buChar char="•"/>
            </a:pPr>
            <a:r>
              <a:rPr lang="en" sz="2400" dirty="0"/>
              <a:t>Definition: Planning and controlling time spent on activities.</a:t>
            </a:r>
            <a:endParaRPr sz="2400" dirty="0"/>
          </a:p>
          <a:p>
            <a:pPr marL="457200" indent="-457200">
              <a:spcBef>
                <a:spcPts val="1600"/>
              </a:spcBef>
              <a:buFont typeface="Arial" panose="020B0604020202020204" pitchFamily="34" charset="0"/>
              <a:buChar char="•"/>
            </a:pPr>
            <a:r>
              <a:rPr lang="en" sz="2400" dirty="0"/>
              <a:t>Importance: Boosts efficiency and productivity, reduces stress.</a:t>
            </a:r>
            <a:endParaRPr sz="2400" dirty="0"/>
          </a:p>
          <a:p>
            <a:pPr marL="457200" indent="-457200">
              <a:spcBef>
                <a:spcPts val="1600"/>
              </a:spcBef>
              <a:buFont typeface="Arial" panose="020B0604020202020204" pitchFamily="34" charset="0"/>
              <a:buChar char="•"/>
            </a:pPr>
            <a:r>
              <a:rPr lang="en" sz="2400" dirty="0"/>
              <a:t>SMART Goals: </a:t>
            </a:r>
          </a:p>
          <a:p>
            <a:pPr marL="1066785" lvl="1" indent="-457200">
              <a:spcBef>
                <a:spcPts val="1600"/>
              </a:spcBef>
              <a:buFont typeface="Arial" panose="020B0604020202020204" pitchFamily="34" charset="0"/>
              <a:buChar char="•"/>
            </a:pPr>
            <a:r>
              <a:rPr lang="en" sz="2000" dirty="0"/>
              <a:t>Specific, Measurable, Achievable, Relevant, Time-bound.</a:t>
            </a:r>
            <a:endParaRPr sz="2000" dirty="0"/>
          </a:p>
          <a:p>
            <a:pPr marL="457200" indent="-457200">
              <a:spcBef>
                <a:spcPts val="1600"/>
              </a:spcBef>
              <a:buFont typeface="Arial" panose="020B0604020202020204" pitchFamily="34" charset="0"/>
              <a:buChar char="•"/>
            </a:pPr>
            <a:r>
              <a:rPr lang="en" sz="2400" dirty="0"/>
              <a:t>Align with long-term objectives and break down into manageable tasks.</a:t>
            </a:r>
            <a:endParaRPr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3"/>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Prioritize Your Tasks</a:t>
            </a:r>
            <a:endParaRPr/>
          </a:p>
        </p:txBody>
      </p:sp>
      <p:sp>
        <p:nvSpPr>
          <p:cNvPr id="190" name="Google Shape;190;p33"/>
          <p:cNvSpPr txBox="1">
            <a:spLocks noGrp="1"/>
          </p:cNvSpPr>
          <p:nvPr>
            <p:ph type="body" idx="1"/>
          </p:nvPr>
        </p:nvSpPr>
        <p:spPr>
          <a:xfrm>
            <a:off x="415599" y="1536633"/>
            <a:ext cx="5823275" cy="4555200"/>
          </a:xfrm>
          <a:prstGeom prst="rect">
            <a:avLst/>
          </a:prstGeom>
        </p:spPr>
        <p:txBody>
          <a:bodyPr spcFirstLastPara="1" vert="horz" wrap="square" lIns="121900" tIns="121900" rIns="121900" bIns="121900" rtlCol="0" anchor="t" anchorCtr="0">
            <a:normAutofit/>
          </a:bodyPr>
          <a:lstStyle/>
          <a:p>
            <a:pPr marL="621027" indent="-457200">
              <a:lnSpc>
                <a:spcPct val="100000"/>
              </a:lnSpc>
              <a:buSzPct val="100000"/>
              <a:buFont typeface="Arial" panose="020B0604020202020204" pitchFamily="34" charset="0"/>
              <a:buChar char="•"/>
            </a:pPr>
            <a:r>
              <a:rPr lang="en" dirty="0"/>
              <a:t>Eisenhower Matrix:</a:t>
            </a:r>
          </a:p>
          <a:p>
            <a:pPr lvl="1" indent="-445758">
              <a:lnSpc>
                <a:spcPct val="100000"/>
              </a:lnSpc>
              <a:buSzPct val="100000"/>
              <a:buFont typeface="Arial" panose="020B0604020202020204" pitchFamily="34" charset="0"/>
              <a:buChar char="•"/>
            </a:pPr>
            <a:r>
              <a:rPr lang="en" dirty="0"/>
              <a:t>Urgent vs. Important tasks.</a:t>
            </a:r>
            <a:endParaRPr dirty="0"/>
          </a:p>
          <a:p>
            <a:pPr marL="621027" indent="-457200">
              <a:lnSpc>
                <a:spcPct val="100000"/>
              </a:lnSpc>
              <a:buSzPct val="100000"/>
              <a:buFont typeface="Arial" panose="020B0604020202020204" pitchFamily="34" charset="0"/>
              <a:buChar char="•"/>
            </a:pPr>
            <a:r>
              <a:rPr lang="en" dirty="0"/>
              <a:t>Focus on high-impact tasks.</a:t>
            </a:r>
            <a:endParaRPr dirty="0"/>
          </a:p>
          <a:p>
            <a:pPr marL="621027" indent="-457200">
              <a:lnSpc>
                <a:spcPct val="100000"/>
              </a:lnSpc>
              <a:buSzPct val="100000"/>
              <a:buFont typeface="Arial" panose="020B0604020202020204" pitchFamily="34" charset="0"/>
              <a:buChar char="•"/>
            </a:pPr>
            <a:r>
              <a:rPr lang="en" dirty="0"/>
              <a:t>Avoid multitasking</a:t>
            </a:r>
          </a:p>
          <a:p>
            <a:pPr lvl="1" indent="-445758">
              <a:lnSpc>
                <a:spcPct val="100000"/>
              </a:lnSpc>
              <a:buSzPct val="100000"/>
              <a:buFont typeface="Arial" panose="020B0604020202020204" pitchFamily="34" charset="0"/>
              <a:buChar char="•"/>
            </a:pPr>
            <a:r>
              <a:rPr lang="en" dirty="0"/>
              <a:t>Single-task focus leads to better results.</a:t>
            </a:r>
            <a:endParaRPr dirty="0"/>
          </a:p>
        </p:txBody>
      </p:sp>
      <p:pic>
        <p:nvPicPr>
          <p:cNvPr id="2052" name="Picture 4">
            <a:extLst>
              <a:ext uri="{FF2B5EF4-FFF2-40B4-BE49-F238E27FC236}">
                <a16:creationId xmlns:a16="http://schemas.microsoft.com/office/drawing/2014/main" id="{AFDF13E2-4CFD-101B-DC1A-0CE4C2DD17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2102" y="1676200"/>
            <a:ext cx="3483825" cy="35055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pic>
        <p:nvPicPr>
          <p:cNvPr id="3" name="그림 2" descr="사무용품, 사람, 사무 기기, 펜이(가) 표시된 사진&#10;&#10;자동 생성된 설명">
            <a:extLst>
              <a:ext uri="{FF2B5EF4-FFF2-40B4-BE49-F238E27FC236}">
                <a16:creationId xmlns:a16="http://schemas.microsoft.com/office/drawing/2014/main" id="{4D71DF62-EA1D-6F55-7D39-0D35056B6B9B}"/>
              </a:ext>
            </a:extLst>
          </p:cNvPr>
          <p:cNvPicPr>
            <a:picLocks noChangeAspect="1"/>
          </p:cNvPicPr>
          <p:nvPr/>
        </p:nvPicPr>
        <p:blipFill>
          <a:blip r:embed="rId3"/>
          <a:stretch>
            <a:fillRect/>
          </a:stretch>
        </p:blipFill>
        <p:spPr>
          <a:xfrm>
            <a:off x="-615233" y="-66682"/>
            <a:ext cx="13640531" cy="7685915"/>
          </a:xfrm>
          <a:prstGeom prst="rect">
            <a:avLst/>
          </a:prstGeom>
        </p:spPr>
      </p:pic>
      <p:sp>
        <p:nvSpPr>
          <p:cNvPr id="198" name="Google Shape;198;p34"/>
          <p:cNvSpPr txBox="1">
            <a:spLocks noGrp="1"/>
          </p:cNvSpPr>
          <p:nvPr>
            <p:ph type="title"/>
          </p:nvPr>
        </p:nvSpPr>
        <p:spPr>
          <a:xfrm>
            <a:off x="415600" y="593367"/>
            <a:ext cx="5547050" cy="763600"/>
          </a:xfrm>
          <a:prstGeom prst="rect">
            <a:avLst/>
          </a:prstGeom>
          <a:solidFill>
            <a:schemeClr val="lt1"/>
          </a:solidFill>
        </p:spPr>
        <p:txBody>
          <a:bodyPr spcFirstLastPara="1" vert="horz" wrap="square" lIns="121900" tIns="121900" rIns="121900" bIns="121900" rtlCol="0" anchor="t" anchorCtr="0">
            <a:normAutofit fontScale="90000"/>
          </a:bodyPr>
          <a:lstStyle/>
          <a:p>
            <a:r>
              <a:rPr lang="en"/>
              <a:t>Create a Schedule</a:t>
            </a:r>
            <a:endParaRPr/>
          </a:p>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5"/>
          <p:cNvSpPr txBox="1">
            <a:spLocks noGrp="1"/>
          </p:cNvSpPr>
          <p:nvPr>
            <p:ph type="body" idx="1"/>
          </p:nvPr>
        </p:nvSpPr>
        <p:spPr>
          <a:xfrm>
            <a:off x="415599" y="1536633"/>
            <a:ext cx="6032825" cy="4555200"/>
          </a:xfrm>
          <a:prstGeom prst="rect">
            <a:avLst/>
          </a:prstGeom>
        </p:spPr>
        <p:txBody>
          <a:bodyPr spcFirstLastPara="1" vert="horz" wrap="square" lIns="121900" tIns="121900" rIns="121900" bIns="121900" rtlCol="0" anchor="t" anchorCtr="0">
            <a:normAutofit/>
          </a:bodyPr>
          <a:lstStyle/>
          <a:p>
            <a:pPr>
              <a:lnSpc>
                <a:spcPct val="100000"/>
              </a:lnSpc>
              <a:buFont typeface="Arial" panose="020B0604020202020204" pitchFamily="34" charset="0"/>
              <a:buChar char="•"/>
            </a:pPr>
            <a:r>
              <a:rPr lang="en" sz="2400" dirty="0"/>
              <a:t>Identify common distractions</a:t>
            </a:r>
          </a:p>
          <a:p>
            <a:pPr lvl="1">
              <a:lnSpc>
                <a:spcPct val="100000"/>
              </a:lnSpc>
              <a:buFont typeface="Arial" panose="020B0604020202020204" pitchFamily="34" charset="0"/>
              <a:buChar char="•"/>
            </a:pPr>
            <a:r>
              <a:rPr lang="en" sz="2000" dirty="0"/>
              <a:t>e.g., social media, noise</a:t>
            </a:r>
            <a:endParaRPr sz="2000" dirty="0"/>
          </a:p>
          <a:p>
            <a:pPr>
              <a:lnSpc>
                <a:spcPct val="100000"/>
              </a:lnSpc>
              <a:buFont typeface="Arial" panose="020B0604020202020204" pitchFamily="34" charset="0"/>
              <a:buChar char="•"/>
            </a:pPr>
            <a:r>
              <a:rPr lang="en" sz="2400" dirty="0"/>
              <a:t>Create a focused work environment.</a:t>
            </a:r>
            <a:endParaRPr sz="2400" dirty="0"/>
          </a:p>
          <a:p>
            <a:pPr>
              <a:lnSpc>
                <a:spcPct val="100000"/>
              </a:lnSpc>
              <a:buFont typeface="Arial" panose="020B0604020202020204" pitchFamily="34" charset="0"/>
              <a:buChar char="•"/>
            </a:pPr>
            <a:r>
              <a:rPr lang="en" sz="2400" dirty="0"/>
              <a:t>Use apps and tools to block distractions.</a:t>
            </a:r>
            <a:endParaRPr sz="2400" dirty="0"/>
          </a:p>
        </p:txBody>
      </p:sp>
      <p:sp>
        <p:nvSpPr>
          <p:cNvPr id="204" name="Google Shape;204;p35"/>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dirty="0"/>
              <a:t>Eliminate Distractions</a:t>
            </a:r>
            <a:endParaRPr dirty="0"/>
          </a:p>
        </p:txBody>
      </p:sp>
      <p:pic>
        <p:nvPicPr>
          <p:cNvPr id="205" name="Google Shape;205;p35"/>
          <p:cNvPicPr preferRelativeResize="0"/>
          <p:nvPr/>
        </p:nvPicPr>
        <p:blipFill>
          <a:blip r:embed="rId3">
            <a:alphaModFix/>
          </a:blip>
          <a:stretch>
            <a:fillRect/>
          </a:stretch>
        </p:blipFill>
        <p:spPr>
          <a:xfrm>
            <a:off x="-15124533" y="-2776300"/>
            <a:ext cx="9144000" cy="6858000"/>
          </a:xfrm>
          <a:prstGeom prst="rect">
            <a:avLst/>
          </a:prstGeom>
          <a:noFill/>
          <a:ln>
            <a:noFill/>
          </a:ln>
        </p:spPr>
      </p:pic>
      <p:pic>
        <p:nvPicPr>
          <p:cNvPr id="206" name="Google Shape;206;p35"/>
          <p:cNvPicPr preferRelativeResize="0"/>
          <p:nvPr/>
        </p:nvPicPr>
        <p:blipFill rotWithShape="1">
          <a:blip r:embed="rId4">
            <a:alphaModFix/>
          </a:blip>
          <a:srcRect b="4988"/>
          <a:stretch/>
        </p:blipFill>
        <p:spPr>
          <a:xfrm>
            <a:off x="6543615" y="1356967"/>
            <a:ext cx="5648285" cy="4024909"/>
          </a:xfrm>
          <a:prstGeom prst="rect">
            <a:avLst/>
          </a:prstGeom>
          <a:noFill/>
          <a:ln>
            <a:noFill/>
          </a:ln>
        </p:spPr>
      </p:pic>
      <p:pic>
        <p:nvPicPr>
          <p:cNvPr id="3074" name="Picture 2">
            <a:extLst>
              <a:ext uri="{FF2B5EF4-FFF2-40B4-BE49-F238E27FC236}">
                <a16:creationId xmlns:a16="http://schemas.microsoft.com/office/drawing/2014/main" id="{86504C85-2E74-D638-2D3F-020FB9C6A0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3615" y="1334274"/>
            <a:ext cx="5648285" cy="42362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4098" name="Picture 2">
            <a:extLst>
              <a:ext uri="{FF2B5EF4-FFF2-40B4-BE49-F238E27FC236}">
                <a16:creationId xmlns:a16="http://schemas.microsoft.com/office/drawing/2014/main" id="{2DB6EEF1-D414-F19B-5325-A393EE6B73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82565"/>
            <a:ext cx="14040475" cy="8023129"/>
          </a:xfrm>
          <a:prstGeom prst="rect">
            <a:avLst/>
          </a:prstGeom>
          <a:noFill/>
          <a:extLst>
            <a:ext uri="{909E8E84-426E-40DD-AFC4-6F175D3DCCD1}">
              <a14:hiddenFill xmlns:a14="http://schemas.microsoft.com/office/drawing/2010/main">
                <a:solidFill>
                  <a:srgbClr val="FFFFFF"/>
                </a:solidFill>
              </a14:hiddenFill>
            </a:ext>
          </a:extLst>
        </p:spPr>
      </p:pic>
      <p:sp>
        <p:nvSpPr>
          <p:cNvPr id="213" name="Google Shape;213;p36"/>
          <p:cNvSpPr txBox="1">
            <a:spLocks noGrp="1"/>
          </p:cNvSpPr>
          <p:nvPr>
            <p:ph type="title"/>
          </p:nvPr>
        </p:nvSpPr>
        <p:spPr>
          <a:xfrm>
            <a:off x="415600" y="593367"/>
            <a:ext cx="5528000" cy="763600"/>
          </a:xfrm>
          <a:prstGeom prst="rect">
            <a:avLst/>
          </a:prstGeom>
          <a:solidFill>
            <a:schemeClr val="lt1"/>
          </a:solidFill>
        </p:spPr>
        <p:txBody>
          <a:bodyPr spcFirstLastPara="1" vert="horz" wrap="square" lIns="121900" tIns="121900" rIns="121900" bIns="121900" rtlCol="0" anchor="t" anchorCtr="0">
            <a:normAutofit fontScale="90000"/>
          </a:bodyPr>
          <a:lstStyle/>
          <a:p>
            <a:r>
              <a:rPr lang="en"/>
              <a:t>Review and Reflect</a:t>
            </a:r>
            <a:endParaRPr/>
          </a:p>
          <a:p>
            <a:endParaRPr/>
          </a:p>
          <a:p>
            <a:endParaRPr/>
          </a:p>
          <a:p>
            <a:endParaRPr/>
          </a:p>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7"/>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Closing Thoughts</a:t>
            </a:r>
            <a:endParaRPr/>
          </a:p>
          <a:p>
            <a:endParaRPr/>
          </a:p>
          <a:p>
            <a:endParaRPr/>
          </a:p>
        </p:txBody>
      </p:sp>
      <p:sp>
        <p:nvSpPr>
          <p:cNvPr id="220" name="Google Shape;220;p37"/>
          <p:cNvSpPr txBox="1">
            <a:spLocks noGrp="1"/>
          </p:cNvSpPr>
          <p:nvPr>
            <p:ph type="body" idx="1"/>
          </p:nvPr>
        </p:nvSpPr>
        <p:spPr>
          <a:xfrm>
            <a:off x="415600" y="1536633"/>
            <a:ext cx="10355200" cy="4555200"/>
          </a:xfrm>
          <a:prstGeom prst="rect">
            <a:avLst/>
          </a:prstGeom>
        </p:spPr>
        <p:txBody>
          <a:bodyPr spcFirstLastPara="1" vert="horz" wrap="square" lIns="121900" tIns="121900" rIns="121900" bIns="121900" rtlCol="0" anchor="t" anchorCtr="0">
            <a:normAutofit/>
          </a:bodyPr>
          <a:lstStyle/>
          <a:p>
            <a:pPr>
              <a:lnSpc>
                <a:spcPct val="100000"/>
              </a:lnSpc>
              <a:buFont typeface="Arial" panose="020B0604020202020204" pitchFamily="34" charset="0"/>
              <a:buChar char="•"/>
            </a:pPr>
            <a:r>
              <a:rPr lang="en" dirty="0"/>
              <a:t>Setting clear goals</a:t>
            </a:r>
            <a:endParaRPr dirty="0"/>
          </a:p>
          <a:p>
            <a:pPr>
              <a:lnSpc>
                <a:spcPct val="100000"/>
              </a:lnSpc>
              <a:buFont typeface="Arial" panose="020B0604020202020204" pitchFamily="34" charset="0"/>
              <a:buChar char="•"/>
            </a:pPr>
            <a:r>
              <a:rPr lang="en" dirty="0"/>
              <a:t>Prioritizing tasks</a:t>
            </a:r>
            <a:endParaRPr dirty="0"/>
          </a:p>
          <a:p>
            <a:pPr>
              <a:lnSpc>
                <a:spcPct val="100000"/>
              </a:lnSpc>
              <a:buFont typeface="Arial" panose="020B0604020202020204" pitchFamily="34" charset="0"/>
              <a:buChar char="•"/>
            </a:pPr>
            <a:r>
              <a:rPr lang="en" dirty="0"/>
              <a:t>Creating effective schedules</a:t>
            </a:r>
            <a:endParaRPr dirty="0"/>
          </a:p>
          <a:p>
            <a:pPr>
              <a:lnSpc>
                <a:spcPct val="100000"/>
              </a:lnSpc>
              <a:buFont typeface="Arial" panose="020B0604020202020204" pitchFamily="34" charset="0"/>
              <a:buChar char="•"/>
            </a:pPr>
            <a:r>
              <a:rPr lang="en" dirty="0"/>
              <a:t>Eliminating distractions</a:t>
            </a:r>
            <a:endParaRPr dirty="0"/>
          </a:p>
          <a:p>
            <a:pPr>
              <a:lnSpc>
                <a:spcPct val="100000"/>
              </a:lnSpc>
              <a:buFont typeface="Arial" panose="020B0604020202020204" pitchFamily="34" charset="0"/>
              <a:buChar char="•"/>
            </a:pPr>
            <a:r>
              <a:rPr lang="en" dirty="0"/>
              <a:t>Reviewing your progress</a:t>
            </a:r>
            <a:endParaRPr dirty="0"/>
          </a:p>
          <a:p>
            <a:pPr marL="0" indent="0">
              <a:spcBef>
                <a:spcPts val="1600"/>
              </a:spcBef>
              <a:buNone/>
            </a:pPr>
            <a:endParaRPr dirty="0"/>
          </a:p>
          <a:p>
            <a:pPr marL="0" indent="0">
              <a:spcBef>
                <a:spcPts val="1600"/>
              </a:spcBef>
              <a:spcAft>
                <a:spcPts val="1600"/>
              </a:spcAft>
              <a:buNone/>
            </a:pPr>
            <a:r>
              <a:rPr lang="en" dirty="0"/>
              <a:t>Enhance your productivity and make the most of each day!</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575</Words>
  <Application>Microsoft Macintosh PowerPoint</Application>
  <PresentationFormat>Widescreen</PresentationFormat>
  <Paragraphs>43</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Mastering Time Management: Essential Skills for Productivity</vt:lpstr>
      <vt:lpstr>What is Time Management? &amp; Setting Clear Goals    </vt:lpstr>
      <vt:lpstr>Prioritize Your Tasks</vt:lpstr>
      <vt:lpstr>Create a Schedule </vt:lpstr>
      <vt:lpstr>Eliminate Distractions</vt:lpstr>
      <vt:lpstr>Review and Reflect    </vt:lpstr>
      <vt:lpstr>Closing Thoughts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Geonsun Lee</dc:creator>
  <cp:lastModifiedBy>Geonsun Lee</cp:lastModifiedBy>
  <cp:revision>18</cp:revision>
  <dcterms:created xsi:type="dcterms:W3CDTF">2024-07-25T16:29:20Z</dcterms:created>
  <dcterms:modified xsi:type="dcterms:W3CDTF">2024-08-15T02:57:27Z</dcterms:modified>
</cp:coreProperties>
</file>